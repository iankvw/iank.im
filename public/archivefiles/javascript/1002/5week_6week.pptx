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0"/>
  </p:notesMasterIdLst>
  <p:sldIdLst>
    <p:sldId id="508" r:id="rId2"/>
    <p:sldId id="607" r:id="rId3"/>
    <p:sldId id="554" r:id="rId4"/>
    <p:sldId id="684" r:id="rId5"/>
    <p:sldId id="685" r:id="rId6"/>
    <p:sldId id="686" r:id="rId7"/>
    <p:sldId id="687" r:id="rId8"/>
    <p:sldId id="610" r:id="rId9"/>
    <p:sldId id="611" r:id="rId10"/>
    <p:sldId id="561" r:id="rId11"/>
    <p:sldId id="562" r:id="rId12"/>
    <p:sldId id="619" r:id="rId13"/>
    <p:sldId id="620" r:id="rId14"/>
    <p:sldId id="621" r:id="rId15"/>
    <p:sldId id="622" r:id="rId16"/>
    <p:sldId id="688" r:id="rId17"/>
    <p:sldId id="623" r:id="rId18"/>
    <p:sldId id="608" r:id="rId19"/>
    <p:sldId id="609" r:id="rId20"/>
    <p:sldId id="618" r:id="rId21"/>
    <p:sldId id="612" r:id="rId22"/>
    <p:sldId id="625" r:id="rId23"/>
    <p:sldId id="626" r:id="rId24"/>
    <p:sldId id="666" r:id="rId25"/>
    <p:sldId id="670" r:id="rId26"/>
    <p:sldId id="668" r:id="rId27"/>
    <p:sldId id="669" r:id="rId28"/>
    <p:sldId id="671" r:id="rId29"/>
    <p:sldId id="672" r:id="rId30"/>
    <p:sldId id="674" r:id="rId31"/>
    <p:sldId id="675" r:id="rId32"/>
    <p:sldId id="680" r:id="rId33"/>
    <p:sldId id="681" r:id="rId34"/>
    <p:sldId id="676" r:id="rId35"/>
    <p:sldId id="677" r:id="rId36"/>
    <p:sldId id="678" r:id="rId37"/>
    <p:sldId id="682" r:id="rId38"/>
    <p:sldId id="673" r:id="rId39"/>
    <p:sldId id="679" r:id="rId40"/>
    <p:sldId id="683" r:id="rId41"/>
    <p:sldId id="689" r:id="rId42"/>
    <p:sldId id="690" r:id="rId43"/>
    <p:sldId id="691" r:id="rId44"/>
    <p:sldId id="698" r:id="rId45"/>
    <p:sldId id="699" r:id="rId46"/>
    <p:sldId id="700" r:id="rId47"/>
    <p:sldId id="701" r:id="rId48"/>
    <p:sldId id="692" r:id="rId49"/>
    <p:sldId id="702" r:id="rId50"/>
    <p:sldId id="693" r:id="rId51"/>
    <p:sldId id="703" r:id="rId52"/>
    <p:sldId id="695" r:id="rId53"/>
    <p:sldId id="704" r:id="rId54"/>
    <p:sldId id="696" r:id="rId55"/>
    <p:sldId id="705" r:id="rId56"/>
    <p:sldId id="706" r:id="rId57"/>
    <p:sldId id="697" r:id="rId58"/>
    <p:sldId id="707" r:id="rId5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AB0"/>
    <a:srgbClr val="3366FF"/>
    <a:srgbClr val="E7F4FF"/>
    <a:srgbClr val="F2F8EE"/>
    <a:srgbClr val="1927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1" d="100"/>
          <a:sy n="81" d="100"/>
        </p:scale>
        <p:origin x="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52E7EE-99FC-4ADB-97AA-349380CC0E5B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F93FD-2986-4BFB-86D9-E1040C10B3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345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9C34B-A073-41EE-BE67-88D3AD8C1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361763-EE2C-4C84-9CFA-1F6F681FE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51BB24-F9D4-4DE2-BA69-3543BD1ED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7D7DD-62B3-481D-82A5-7407B5775DD8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64F667-73CD-456D-9DB9-FF9CCD9FC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Do it! </a:t>
            </a:r>
            <a:r>
              <a:rPr lang="ko-KR" altLang="en-US"/>
              <a:t>자바스크립트 입문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4032ED-7C54-4D7F-B588-665F6AF78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2D28-C2B2-4E8A-94A5-109B27DCB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60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338A6-AA79-48FF-A6FE-E6788D9D6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177F51-B8CA-4EC1-96FE-8A72EECC6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E19C49-DE54-4216-92A7-7A0C7575E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EE70-B141-44E3-BB7B-A2B46756D640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1282AE-06E1-4C52-8680-52B1B400B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Do it! </a:t>
            </a:r>
            <a:r>
              <a:rPr lang="ko-KR" altLang="en-US"/>
              <a:t>자바스크립트 입문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B55120-F656-4F78-8E9D-2445B8391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2D28-C2B2-4E8A-94A5-109B27DCB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958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CB8790-95F7-4685-ACCE-029D4E84F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DC68BE-E2E9-477D-9F2D-99EBFC57C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F615D7-6FCB-4B01-B596-4ADE5350F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3C56D-8B7D-4774-B166-7FAF1B8676FA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273B32-733B-4BE6-B488-28D799E49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Do it! </a:t>
            </a:r>
            <a:r>
              <a:rPr lang="ko-KR" altLang="en-US"/>
              <a:t>자바스크립트 입문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1F0FF7-4E02-4D76-96A7-74E12EC0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2D28-C2B2-4E8A-94A5-109B27DCB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031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6003C7-F483-4539-9F6D-956C00EA5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E4CD28-9905-4B83-A4B6-6EF3BE72FC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C26D86-5D8B-4363-A1E6-00DFD4428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6E05EC-A51D-46B9-A816-BDDD1FCD9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5C4F2-A9D0-4D3D-9808-BC9D6A407990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D33F80-6234-4D91-8C38-634D9942D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Do it! </a:t>
            </a:r>
            <a:r>
              <a:rPr lang="ko-KR" altLang="en-US"/>
              <a:t>자바스크립트 입문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01A3EB-F3BB-46FB-816D-FB20F8246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2D28-C2B2-4E8A-94A5-109B27DCB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245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ED0B57-32A4-442F-925A-BD116AB74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4491CA-876E-476F-BFDF-A6BAF3C3F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E1E44C-6B2D-473B-B0D1-4C2F98AE9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BF34E9-9D6F-4A1F-B075-7BEE82A28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E5A6161-52B0-4732-B1A0-BAF8C4F18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2C3D6BD-F690-4C9A-830E-6D95D3DE0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D84C-630C-4CC3-A02F-FDFAD50D85A2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A2DC46F-F294-4725-9723-0CB34ADC4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Do it! </a:t>
            </a:r>
            <a:r>
              <a:rPr lang="ko-KR" altLang="en-US"/>
              <a:t>자바스크립트 입문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FAFE5F-792A-47F3-95A3-4ACB8FF2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2D28-C2B2-4E8A-94A5-109B27DCB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895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FF7D92-6433-424A-ACE0-0C6B6EABF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ADFB57-6020-4CCB-8E61-EEF59F25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D97DA-66F2-42FA-A547-03BCF38C66CA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05B81F-F86D-435F-A07C-3EC4D0DB9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Do it! </a:t>
            </a:r>
            <a:r>
              <a:rPr lang="ko-KR" altLang="en-US"/>
              <a:t>자바스크립트 입문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46AAD8-E173-4EE1-8DA5-B1A93B6DE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2D28-C2B2-4E8A-94A5-109B27DCB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408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27DBDC0-F087-43D6-BAD9-C8D7053F3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CC6B7-54EC-4960-9A4D-897DD0012E48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94E9499-01CF-4F9E-BAD0-4131AA75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Do it! </a:t>
            </a:r>
            <a:r>
              <a:rPr lang="ko-KR" altLang="en-US"/>
              <a:t>자바스크립트 입문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4F1837-0BFD-445E-B35C-458CA2FB6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2D28-C2B2-4E8A-94A5-109B27DCB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504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239DC2-87B8-483F-A64D-531246B84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338DE3-5BC6-43B6-BFCA-E31C85E79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20558D-CC8A-44E9-B894-29B810FE6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EE030A-C8D1-421C-A995-2861B9ABB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5D03C-3BDD-4506-A820-C389382DA3F3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6E02B1-B5A0-431D-B1A9-775E0E74C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Do it! </a:t>
            </a:r>
            <a:r>
              <a:rPr lang="ko-KR" altLang="en-US"/>
              <a:t>자바스크립트 입문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3F5883-6BED-42B1-B38C-2649DFE7E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2D28-C2B2-4E8A-94A5-109B27DCB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23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E23928-7AE2-45B4-A33A-ABD5B1ED5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A3DD062-B0C4-4441-BEBA-A9C36BB1B5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CF4DF2-E109-402E-B139-6B30AF308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B3CBDD-5A07-4ED0-AB7D-38F05772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ECA3-5085-423F-85BD-E91591254746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9C8ACE-12E5-4647-A7BB-5C59640C2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Do it! </a:t>
            </a:r>
            <a:r>
              <a:rPr lang="ko-KR" altLang="en-US"/>
              <a:t>자바스크립트 입문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05D2CC-AB52-4826-9BD6-6847FAACC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2D28-C2B2-4E8A-94A5-109B27DCB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87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2CB2C-1E56-4E4B-AB80-2DC725329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A264DE-7D9A-4249-8984-FACF0D774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443CBD-DEB6-4383-A6E5-1A56E48C0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488BB-37A4-455A-8C28-CC3FC58EF582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586F05-940B-40B0-A42A-F600EA5C4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Do it! </a:t>
            </a:r>
            <a:r>
              <a:rPr lang="ko-KR" altLang="en-US"/>
              <a:t>자바스크립트 입문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6F6CA1-413F-4ED8-8A2E-8B2F0C326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2D28-C2B2-4E8A-94A5-109B27DCB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605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72AAC2-91A7-4697-93E1-B36795E637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953A4F-B659-469E-B04C-FA9CB3D15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99D47D-7AFB-429F-A29C-F3DE52489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F2B9-122F-43E6-8A8C-16DEE7AC957B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4D0A49-77FA-48CD-BC23-DC5C92DF0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Do it! </a:t>
            </a:r>
            <a:r>
              <a:rPr lang="ko-KR" altLang="en-US"/>
              <a:t>자바스크립트 입문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0E7143-A86B-4AB4-91CD-6449E7C59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2D28-C2B2-4E8A-94A5-109B27DCB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360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2DF59-7CFF-3CA6-9BB3-831C62491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B0BCD9-4E92-2CFC-2701-8D00EBFC1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B9CB-7EE2-4110-A9C4-52DF80078EE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A9DFC6-64DB-E5F9-0AB4-B4E83EAE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5E354D-15B4-E250-0326-8D6B4C7A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D981-625A-400E-8482-2F50A4F866B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9EF6FAF-831F-F757-B0DB-9DC9F4E7EE1F}"/>
              </a:ext>
            </a:extLst>
          </p:cNvPr>
          <p:cNvCxnSpPr>
            <a:cxnSpLocks/>
          </p:cNvCxnSpPr>
          <p:nvPr userDrawn="1"/>
        </p:nvCxnSpPr>
        <p:spPr>
          <a:xfrm>
            <a:off x="838200" y="4631483"/>
            <a:ext cx="105219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3568D8A-8174-09A4-2B88-136158136A1D}"/>
              </a:ext>
            </a:extLst>
          </p:cNvPr>
          <p:cNvCxnSpPr>
            <a:cxnSpLocks/>
          </p:cNvCxnSpPr>
          <p:nvPr userDrawn="1"/>
        </p:nvCxnSpPr>
        <p:spPr>
          <a:xfrm>
            <a:off x="838200" y="3429000"/>
            <a:ext cx="105219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731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7E974E-63DC-4128-A7B7-ED7F2CF9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FBF674-EC57-46FC-9FDE-5A6816831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5AE821-58F9-4341-86EE-3BD3BAC71E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0D0A2-9B4F-4310-B7AC-E78A7BFDEC62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48B56D-3BF9-4500-9F33-171680F9BB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Do it! </a:t>
            </a:r>
            <a:r>
              <a:rPr lang="ko-KR" altLang="en-US"/>
              <a:t>자바스크립트 입문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D87769-EF2B-4A81-B774-7AC7D1068D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D2D28-C2B2-4E8A-94A5-109B27DCB3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721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804D97A-1F85-72A8-5092-1EF077AD2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42" y="1654874"/>
            <a:ext cx="10515600" cy="2852737"/>
          </a:xfrm>
        </p:spPr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 smtClean="0"/>
              <a:t>주차</a:t>
            </a:r>
            <a:r>
              <a:rPr lang="en-US" altLang="ko-KR" dirty="0" smtClean="0"/>
              <a:t>_6</a:t>
            </a:r>
            <a:r>
              <a:rPr lang="ko-KR" altLang="en-US" dirty="0" smtClean="0"/>
              <a:t>주차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4641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A8AFD-2230-06C8-3BDB-1DE41583A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연산자</a:t>
            </a:r>
          </a:p>
        </p:txBody>
      </p:sp>
    </p:spTree>
    <p:extLst>
      <p:ext uri="{BB962C8B-B14F-4D97-AF65-F5344CB8AC3E}">
        <p14:creationId xmlns:p14="http://schemas.microsoft.com/office/powerpoint/2010/main" val="2405631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B2E778-341D-1142-A6D2-F9F808D77BC3}"/>
              </a:ext>
            </a:extLst>
          </p:cNvPr>
          <p:cNvSpPr txBox="1"/>
          <p:nvPr/>
        </p:nvSpPr>
        <p:spPr>
          <a:xfrm>
            <a:off x="7476108" y="3121152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/>
              <a:t> </a:t>
            </a:r>
            <a:endParaRPr kumimoji="1"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257D6A-CC89-47F8-8A02-78302654E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462" y="1776112"/>
            <a:ext cx="7208820" cy="414005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F03483-BC59-4D45-8137-1007D4E73B9E}"/>
              </a:ext>
            </a:extLst>
          </p:cNvPr>
          <p:cNvSpPr txBox="1"/>
          <p:nvPr/>
        </p:nvSpPr>
        <p:spPr>
          <a:xfrm>
            <a:off x="1060056" y="470402"/>
            <a:ext cx="2654894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1" lang="ko-KR" altLang="en-US" sz="3600" b="1" dirty="0">
                <a:latin typeface="+mj-lt"/>
                <a:ea typeface="+mj-ea"/>
                <a:cs typeface="+mj-cs"/>
              </a:rPr>
              <a:t>산술 연산자</a:t>
            </a:r>
          </a:p>
        </p:txBody>
      </p:sp>
      <p:cxnSp>
        <p:nvCxnSpPr>
          <p:cNvPr id="13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062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97B31244-916B-9345-AB22-90F8268DA9E6}"/>
              </a:ext>
            </a:extLst>
          </p:cNvPr>
          <p:cNvSpPr/>
          <p:nvPr/>
        </p:nvSpPr>
        <p:spPr>
          <a:xfrm>
            <a:off x="573578" y="1371599"/>
            <a:ext cx="5641209" cy="514560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DF9E8C9-CB58-BD4D-8235-3256C5643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22" y="169634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할당 연산자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2E778-341D-1142-A6D2-F9F808D77BC3}"/>
              </a:ext>
            </a:extLst>
          </p:cNvPr>
          <p:cNvSpPr txBox="1"/>
          <p:nvPr/>
        </p:nvSpPr>
        <p:spPr>
          <a:xfrm>
            <a:off x="7476108" y="3121152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/>
              <a:t> </a:t>
            </a:r>
            <a:endParaRPr kumimoji="1"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C9860B-A277-3542-83AD-293E2EAA6B2C}"/>
              </a:ext>
            </a:extLst>
          </p:cNvPr>
          <p:cNvSpPr txBox="1"/>
          <p:nvPr/>
        </p:nvSpPr>
        <p:spPr>
          <a:xfrm>
            <a:off x="1016005" y="1648256"/>
            <a:ext cx="48431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/>
              <a:t>변수에 값을 할당하는 연산자</a:t>
            </a:r>
            <a:endParaRPr kumimoji="1"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/>
              <a:t>사칙 연산자와 조합해서 사용할 수 있음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F4A502-E04E-B444-AC6B-3ABEBDBC6400}"/>
              </a:ext>
            </a:extLst>
          </p:cNvPr>
          <p:cNvSpPr txBox="1"/>
          <p:nvPr/>
        </p:nvSpPr>
        <p:spPr>
          <a:xfrm>
            <a:off x="7476108" y="5354683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/>
              <a:t> </a:t>
            </a:r>
            <a:endParaRPr kumimoji="1"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9BB4A38-63F0-49B7-A3B6-AEA72962B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81" y="3243072"/>
            <a:ext cx="5256132" cy="2938272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개체 19"/>
          <p:cNvGraphicFramePr>
            <a:graphicFrameLocks noChangeAspect="1"/>
          </p:cNvGraphicFramePr>
          <p:nvPr/>
        </p:nvGraphicFramePr>
        <p:xfrm>
          <a:off x="6432257" y="1240644"/>
          <a:ext cx="5324856" cy="5276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r:id="rId4" imgW="11530080" imgH="4977720" progId="">
                  <p:embed/>
                </p:oleObj>
              </mc:Choice>
              <mc:Fallback>
                <p:oleObj r:id="rId4" imgW="11530080" imgH="4977720" progId="">
                  <p:embed/>
                  <p:pic>
                    <p:nvPicPr>
                      <p:cNvPr id="20" name="개체 1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32257" y="1240644"/>
                        <a:ext cx="5324856" cy="52765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2722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DF9E8C9-CB58-BD4D-8235-3256C5643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22" y="169634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연결 연산자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2E778-341D-1142-A6D2-F9F808D77BC3}"/>
              </a:ext>
            </a:extLst>
          </p:cNvPr>
          <p:cNvSpPr txBox="1"/>
          <p:nvPr/>
        </p:nvSpPr>
        <p:spPr>
          <a:xfrm>
            <a:off x="7476108" y="3121152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/>
              <a:t> </a:t>
            </a:r>
            <a:endParaRPr kumimoji="1"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083D37E-769A-2847-9542-48CD423994EC}"/>
              </a:ext>
            </a:extLst>
          </p:cNvPr>
          <p:cNvSpPr/>
          <p:nvPr/>
        </p:nvSpPr>
        <p:spPr>
          <a:xfrm>
            <a:off x="1194558" y="1372768"/>
            <a:ext cx="10299364" cy="244919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C88D90-455C-3B49-9641-F90A4E0C87E4}"/>
              </a:ext>
            </a:extLst>
          </p:cNvPr>
          <p:cNvSpPr txBox="1"/>
          <p:nvPr/>
        </p:nvSpPr>
        <p:spPr>
          <a:xfrm>
            <a:off x="1712890" y="1852635"/>
            <a:ext cx="4523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/>
              <a:t>문자열과 문자열을 연결</a:t>
            </a:r>
            <a:endParaRPr kumimoji="1"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/>
              <a:t>+</a:t>
            </a:r>
            <a:r>
              <a:rPr kumimoji="1" lang="ko-KR" altLang="en-US" dirty="0"/>
              <a:t> 기호 사용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F4A502-E04E-B444-AC6B-3ABEBDBC6400}"/>
              </a:ext>
            </a:extLst>
          </p:cNvPr>
          <p:cNvSpPr txBox="1"/>
          <p:nvPr/>
        </p:nvSpPr>
        <p:spPr>
          <a:xfrm>
            <a:off x="7476108" y="5354683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/>
              <a:t> </a:t>
            </a:r>
            <a:endParaRPr kumimoji="1"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2A4DD66-C460-D549-8366-8AC6682EEDEB}"/>
              </a:ext>
            </a:extLst>
          </p:cNvPr>
          <p:cNvSpPr/>
          <p:nvPr/>
        </p:nvSpPr>
        <p:spPr>
          <a:xfrm>
            <a:off x="1194558" y="4056734"/>
            <a:ext cx="10299364" cy="2490869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24EC8D-D2C4-934F-8069-A8943DD59841}"/>
              </a:ext>
            </a:extLst>
          </p:cNvPr>
          <p:cNvSpPr txBox="1"/>
          <p:nvPr/>
        </p:nvSpPr>
        <p:spPr>
          <a:xfrm>
            <a:off x="1697330" y="4511418"/>
            <a:ext cx="87990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err="1"/>
              <a:t>형변환</a:t>
            </a: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숫자형과 문자형을 더하면 숫자를 문자열로 인식함</a:t>
            </a:r>
            <a:r>
              <a:rPr lang="en-US" altLang="ko-KR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곱하기나 나누기</a:t>
            </a:r>
            <a:r>
              <a:rPr lang="en-US" altLang="ko-KR" dirty="0"/>
              <a:t>, </a:t>
            </a:r>
            <a:r>
              <a:rPr lang="ko-KR" altLang="en-US" dirty="0"/>
              <a:t>나머지 연산에서는 문자형 자료를 모두 숫자로 자동 인식함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개체 18"/>
          <p:cNvGraphicFramePr>
            <a:graphicFrameLocks noChangeAspect="1"/>
          </p:cNvGraphicFramePr>
          <p:nvPr/>
        </p:nvGraphicFramePr>
        <p:xfrm>
          <a:off x="4785154" y="1739200"/>
          <a:ext cx="6535032" cy="1716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r:id="rId3" imgW="11707920" imgH="2361600" progId="">
                  <p:embed/>
                </p:oleObj>
              </mc:Choice>
              <mc:Fallback>
                <p:oleObj r:id="rId3" imgW="11707920" imgH="2361600" progId="">
                  <p:embed/>
                  <p:pic>
                    <p:nvPicPr>
                      <p:cNvPr id="19" name="개체 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85154" y="1739200"/>
                        <a:ext cx="6535032" cy="1716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6390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DF9E8C9-CB58-BD4D-8235-3256C5643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180423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비교 연산자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1CC3B3-B1D2-D64F-BD06-599FE41C4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dirty="0"/>
              <a:t>Do it! </a:t>
            </a:r>
            <a:r>
              <a:rPr kumimoji="1" lang="ko-KR" altLang="en-US" dirty="0"/>
              <a:t>자바스크립트 입문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C9860B-A277-3542-83AD-293E2EAA6B2C}"/>
              </a:ext>
            </a:extLst>
          </p:cNvPr>
          <p:cNvSpPr txBox="1"/>
          <p:nvPr/>
        </p:nvSpPr>
        <p:spPr>
          <a:xfrm>
            <a:off x="995462" y="1586331"/>
            <a:ext cx="874166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두 값을 비교하여 </a:t>
            </a:r>
            <a:r>
              <a:rPr lang="en-US" altLang="ko-KR" sz="2000" dirty="0"/>
              <a:t>true</a:t>
            </a:r>
            <a:r>
              <a:rPr lang="ko-KR" altLang="en-US" sz="2000" dirty="0"/>
              <a:t>나 </a:t>
            </a:r>
            <a:r>
              <a:rPr lang="en-US" altLang="ko-KR" sz="2000" dirty="0"/>
              <a:t>false</a:t>
            </a:r>
            <a:r>
              <a:rPr lang="ko-KR" altLang="en-US" sz="2000" dirty="0"/>
              <a:t>로 </a:t>
            </a:r>
            <a:r>
              <a:rPr lang="ko-KR" altLang="en-US" sz="2000" dirty="0" err="1"/>
              <a:t>결괏값을</a:t>
            </a:r>
            <a:r>
              <a:rPr lang="ko-KR" altLang="en-US" sz="2000" dirty="0"/>
              <a:t> 내놓는 연산자</a:t>
            </a:r>
            <a:endParaRPr kumimoji="1" lang="ko-KR" altLang="en-US" dirty="0"/>
          </a:p>
        </p:txBody>
      </p:sp>
      <p:graphicFrame>
        <p:nvGraphicFramePr>
          <p:cNvPr id="20" name="표 20">
            <a:extLst>
              <a:ext uri="{FF2B5EF4-FFF2-40B4-BE49-F238E27FC236}">
                <a16:creationId xmlns:a16="http://schemas.microsoft.com/office/drawing/2014/main" id="{37F77C67-4FA1-4162-8FED-26D7E71F1F63}"/>
              </a:ext>
            </a:extLst>
          </p:cNvPr>
          <p:cNvGraphicFramePr>
            <a:graphicFrameLocks noGrp="1"/>
          </p:cNvGraphicFramePr>
          <p:nvPr/>
        </p:nvGraphicFramePr>
        <p:xfrm>
          <a:off x="1102963" y="2598455"/>
          <a:ext cx="6646487" cy="3217129"/>
        </p:xfrm>
        <a:graphic>
          <a:graphicData uri="http://schemas.openxmlformats.org/drawingml/2006/table">
            <a:tbl>
              <a:tblPr firstRow="1" bandRow="1"/>
              <a:tblGrid>
                <a:gridCol w="1400237">
                  <a:extLst>
                    <a:ext uri="{9D8B030D-6E8A-4147-A177-3AD203B41FA5}">
                      <a16:colId xmlns:a16="http://schemas.microsoft.com/office/drawing/2014/main" val="1762099062"/>
                    </a:ext>
                  </a:extLst>
                </a:gridCol>
                <a:gridCol w="5246250">
                  <a:extLst>
                    <a:ext uri="{9D8B030D-6E8A-4147-A177-3AD203B41FA5}">
                      <a16:colId xmlns:a16="http://schemas.microsoft.com/office/drawing/2014/main" val="410970529"/>
                    </a:ext>
                  </a:extLst>
                </a:gridCol>
              </a:tblGrid>
              <a:tr h="7507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== ,</a:t>
                      </a:r>
                      <a:r>
                        <a:rPr lang="ko-KR" altLang="en-US" b="1" dirty="0"/>
                        <a:t> </a:t>
                      </a:r>
                      <a:r>
                        <a:rPr lang="en-US" altLang="ko-KR" b="1" dirty="0"/>
                        <a:t>!=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두 개의 값이 </a:t>
                      </a:r>
                      <a:r>
                        <a:rPr lang="ko-KR" altLang="en-US" sz="1600" dirty="0" err="1"/>
                        <a:t>같은지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같지 </a:t>
                      </a:r>
                      <a:r>
                        <a:rPr lang="ko-KR" altLang="en-US" sz="1600" dirty="0" err="1"/>
                        <a:t>않은지</a:t>
                      </a:r>
                      <a:r>
                        <a:rPr lang="ko-KR" altLang="en-US" sz="1600" dirty="0"/>
                        <a:t> 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0559228"/>
                  </a:ext>
                </a:extLst>
              </a:tr>
              <a:tr h="7942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&lt;, &lt;=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왼쪽 값이 오른쪽 값보다 작은지 혹은 작거나 같은지 </a:t>
                      </a:r>
                      <a:endParaRPr lang="en-US" altLang="ko-KR" sz="16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8542423"/>
                  </a:ext>
                </a:extLst>
              </a:tr>
              <a:tr h="7942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&gt;, &gt;=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왼쪽 값이 오른쪽 값보다 큰지 혹은 크거나 같은지 </a:t>
                      </a:r>
                      <a:endParaRPr lang="en-US" altLang="ko-KR" sz="16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7958456"/>
                  </a:ext>
                </a:extLst>
              </a:tr>
              <a:tr h="8778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=== ,</a:t>
                      </a:r>
                      <a:r>
                        <a:rPr lang="ko-KR" altLang="en-US" b="1" dirty="0"/>
                        <a:t> </a:t>
                      </a:r>
                      <a:r>
                        <a:rPr lang="en-US" altLang="ko-KR" b="1" dirty="0"/>
                        <a:t>!==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두 개의 값이 자료형까지 완벽하게 </a:t>
                      </a:r>
                      <a:r>
                        <a:rPr lang="ko-KR" altLang="en-US" sz="1600" dirty="0" err="1"/>
                        <a:t>같은지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같지 </a:t>
                      </a:r>
                      <a:r>
                        <a:rPr lang="ko-KR" altLang="en-US" sz="1600" dirty="0" err="1"/>
                        <a:t>않은지</a:t>
                      </a:r>
                      <a:r>
                        <a:rPr lang="ko-KR" altLang="en-US" sz="1600" dirty="0"/>
                        <a:t> 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225909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개체 9"/>
          <p:cNvGraphicFramePr>
            <a:graphicFrameLocks noChangeAspect="1"/>
          </p:cNvGraphicFramePr>
          <p:nvPr/>
        </p:nvGraphicFramePr>
        <p:xfrm>
          <a:off x="7888346" y="1505986"/>
          <a:ext cx="4179559" cy="4575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r:id="rId3" imgW="11606040" imgH="6945840" progId="">
                  <p:embed/>
                </p:oleObj>
              </mc:Choice>
              <mc:Fallback>
                <p:oleObj r:id="rId3" imgW="11606040" imgH="6945840" progId="">
                  <p:embed/>
                  <p:pic>
                    <p:nvPicPr>
                      <p:cNvPr id="10" name="개체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88346" y="1505986"/>
                        <a:ext cx="4179559" cy="45751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2206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graphicFrame>
        <p:nvGraphicFramePr>
          <p:cNvPr id="7" name="개체 6"/>
          <p:cNvGraphicFramePr>
            <a:graphicFrameLocks noChangeAspect="1"/>
          </p:cNvGraphicFramePr>
          <p:nvPr/>
        </p:nvGraphicFramePr>
        <p:xfrm>
          <a:off x="2155215" y="1742534"/>
          <a:ext cx="8395555" cy="4256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r:id="rId3" imgW="11669760" imgH="5917320" progId="">
                  <p:embed/>
                </p:oleObj>
              </mc:Choice>
              <mc:Fallback>
                <p:oleObj r:id="rId3" imgW="11669760" imgH="5917320" progId="">
                  <p:embed/>
                  <p:pic>
                    <p:nvPicPr>
                      <p:cNvPr id="7" name="개체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55215" y="1742534"/>
                        <a:ext cx="8395555" cy="42565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제목 3">
            <a:extLst>
              <a:ext uri="{FF2B5EF4-FFF2-40B4-BE49-F238E27FC236}">
                <a16:creationId xmlns:a16="http://schemas.microsoft.com/office/drawing/2014/main" id="{8DF9E8C9-CB58-BD4D-8235-3256C5643683}"/>
              </a:ext>
            </a:extLst>
          </p:cNvPr>
          <p:cNvSpPr txBox="1">
            <a:spLocks/>
          </p:cNvSpPr>
          <p:nvPr/>
        </p:nvSpPr>
        <p:spPr>
          <a:xfrm>
            <a:off x="929640" y="-15716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ko-KR" altLang="en-US" sz="3600" dirty="0"/>
              <a:t>비교 연산자</a:t>
            </a:r>
          </a:p>
        </p:txBody>
      </p:sp>
    </p:spTree>
    <p:extLst>
      <p:ext uri="{BB962C8B-B14F-4D97-AF65-F5344CB8AC3E}">
        <p14:creationId xmlns:p14="http://schemas.microsoft.com/office/powerpoint/2010/main" val="886459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DF9E8C9-CB58-BD4D-8235-3256C5643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462" y="159230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논리 연산자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1CC3B3-B1D2-D64F-BD06-599FE41C4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Do it! </a:t>
            </a:r>
            <a:r>
              <a:rPr kumimoji="1" lang="ko-KR" altLang="en-US"/>
              <a:t>자바스크립트 입문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C9860B-A277-3542-83AD-293E2EAA6B2C}"/>
              </a:ext>
            </a:extLst>
          </p:cNvPr>
          <p:cNvSpPr txBox="1"/>
          <p:nvPr/>
        </p:nvSpPr>
        <p:spPr>
          <a:xfrm>
            <a:off x="1215504" y="1484793"/>
            <a:ext cx="87416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/>
              <a:t>true</a:t>
            </a:r>
            <a:r>
              <a:rPr lang="ko-KR" altLang="en-US" sz="2000" dirty="0"/>
              <a:t>와 </a:t>
            </a:r>
            <a:r>
              <a:rPr lang="en-US" altLang="ko-KR" sz="2000" dirty="0"/>
              <a:t>false</a:t>
            </a:r>
            <a:r>
              <a:rPr lang="ko-KR" altLang="en-US" sz="2000" dirty="0"/>
              <a:t>를 피연산자로  연산자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kumimoji="1" lang="ko-KR" altLang="en-US" sz="2000" dirty="0" err="1"/>
              <a:t>부울</a:t>
            </a:r>
            <a:r>
              <a:rPr kumimoji="1" lang="ko-KR" altLang="en-US" sz="2000" dirty="0"/>
              <a:t> 연산자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또는 </a:t>
            </a:r>
            <a:r>
              <a:rPr kumimoji="1" lang="ko-KR" altLang="en-US" sz="2000" dirty="0" err="1"/>
              <a:t>불리언</a:t>
            </a:r>
            <a:r>
              <a:rPr kumimoji="1" lang="ko-KR" altLang="en-US" sz="2000" dirty="0"/>
              <a:t> 연산자라고도 함</a:t>
            </a:r>
            <a:endParaRPr kumimoji="1" lang="ko-KR" altLang="en-US" dirty="0"/>
          </a:p>
        </p:txBody>
      </p:sp>
      <p:graphicFrame>
        <p:nvGraphicFramePr>
          <p:cNvPr id="20" name="표 20">
            <a:extLst>
              <a:ext uri="{FF2B5EF4-FFF2-40B4-BE49-F238E27FC236}">
                <a16:creationId xmlns:a16="http://schemas.microsoft.com/office/drawing/2014/main" id="{37F77C67-4FA1-4162-8FED-26D7E71F1F63}"/>
              </a:ext>
            </a:extLst>
          </p:cNvPr>
          <p:cNvGraphicFramePr>
            <a:graphicFrameLocks noGrp="1"/>
          </p:cNvGraphicFramePr>
          <p:nvPr/>
        </p:nvGraphicFramePr>
        <p:xfrm>
          <a:off x="1572120" y="3160961"/>
          <a:ext cx="8952624" cy="2233998"/>
        </p:xfrm>
        <a:graphic>
          <a:graphicData uri="http://schemas.openxmlformats.org/drawingml/2006/table">
            <a:tbl>
              <a:tblPr firstRow="1" bandRow="1"/>
              <a:tblGrid>
                <a:gridCol w="1914534">
                  <a:extLst>
                    <a:ext uri="{9D8B030D-6E8A-4147-A177-3AD203B41FA5}">
                      <a16:colId xmlns:a16="http://schemas.microsoft.com/office/drawing/2014/main" val="1762099062"/>
                    </a:ext>
                  </a:extLst>
                </a:gridCol>
                <a:gridCol w="842674">
                  <a:extLst>
                    <a:ext uri="{9D8B030D-6E8A-4147-A177-3AD203B41FA5}">
                      <a16:colId xmlns:a16="http://schemas.microsoft.com/office/drawing/2014/main" val="398573883"/>
                    </a:ext>
                  </a:extLst>
                </a:gridCol>
                <a:gridCol w="6195416">
                  <a:extLst>
                    <a:ext uri="{9D8B030D-6E8A-4147-A177-3AD203B41FA5}">
                      <a16:colId xmlns:a16="http://schemas.microsoft.com/office/drawing/2014/main" val="410970529"/>
                    </a:ext>
                  </a:extLst>
                </a:gridCol>
              </a:tblGrid>
              <a:tr h="7378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OR </a:t>
                      </a:r>
                      <a:r>
                        <a:rPr lang="ko-KR" altLang="en-US" b="1" dirty="0"/>
                        <a:t>연산자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||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두 개의 값 중 하나만 </a:t>
                      </a:r>
                      <a:r>
                        <a:rPr lang="en-US" altLang="ko-KR" sz="1600" dirty="0"/>
                        <a:t>true</a:t>
                      </a:r>
                      <a:r>
                        <a:rPr lang="ko-KR" altLang="en-US" sz="1600" dirty="0"/>
                        <a:t>이면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 err="1"/>
                        <a:t>결괏값이</a:t>
                      </a:r>
                      <a:r>
                        <a:rPr lang="ko-KR" altLang="en-US" sz="1600" dirty="0"/>
                        <a:t> </a:t>
                      </a:r>
                      <a:r>
                        <a:rPr lang="en-US" altLang="ko-KR" sz="1600" dirty="0"/>
                        <a:t>true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0559228"/>
                  </a:ext>
                </a:extLst>
              </a:tr>
              <a:tr h="748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AND </a:t>
                      </a:r>
                      <a:r>
                        <a:rPr lang="ko-KR" altLang="en-US" b="1" dirty="0"/>
                        <a:t>연산자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&amp;&amp;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두 개의 값 모두</a:t>
                      </a:r>
                      <a:r>
                        <a:rPr lang="en-US" altLang="ko-KR" sz="1600" dirty="0"/>
                        <a:t> </a:t>
                      </a:r>
                      <a:r>
                        <a:rPr lang="en-US" altLang="ko-KR" sz="1600" dirty="0" err="1"/>
                        <a:t>ture</a:t>
                      </a:r>
                      <a:r>
                        <a:rPr lang="ko-KR" altLang="en-US" sz="1600" dirty="0"/>
                        <a:t>여야 </a:t>
                      </a:r>
                      <a:r>
                        <a:rPr lang="ko-KR" altLang="en-US" sz="1600" dirty="0" err="1"/>
                        <a:t>결괏값이</a:t>
                      </a:r>
                      <a:r>
                        <a:rPr lang="ko-KR" altLang="en-US" sz="1600" dirty="0"/>
                        <a:t> </a:t>
                      </a:r>
                      <a:r>
                        <a:rPr lang="en-US" altLang="ko-KR" sz="1600" dirty="0"/>
                        <a:t>true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8542423"/>
                  </a:ext>
                </a:extLst>
              </a:tr>
              <a:tr h="748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NOT </a:t>
                      </a:r>
                      <a:r>
                        <a:rPr lang="ko-KR" altLang="en-US" b="1" dirty="0"/>
                        <a:t>연산자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!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true</a:t>
                      </a:r>
                      <a:r>
                        <a:rPr lang="ko-KR" altLang="en-US" sz="1600" dirty="0"/>
                        <a:t>와 </a:t>
                      </a:r>
                      <a:r>
                        <a:rPr lang="en-US" altLang="ko-KR" sz="1600" dirty="0"/>
                        <a:t>false </a:t>
                      </a:r>
                      <a:r>
                        <a:rPr lang="ko-KR" altLang="en-US" sz="1600" dirty="0"/>
                        <a:t>값을 반대로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7958456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100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DF9E8C9-CB58-BD4D-8235-3256C5643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496" y="159230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연산자 우선 순위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1CC3B3-B1D2-D64F-BD06-599FE41C4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Do it! </a:t>
            </a:r>
            <a:r>
              <a:rPr kumimoji="1" lang="ko-KR" altLang="en-US"/>
              <a:t>자바스크립트 입문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BE74BF2-E849-465D-BCB9-CAD0CAB7B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997440" cy="10816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E2BD42-0953-471F-9545-B3BAE99B6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8" y="2857067"/>
            <a:ext cx="7778483" cy="288252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28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94CB15-0672-EEF0-C93D-0115D717F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027" y="159230"/>
            <a:ext cx="10515600" cy="1325563"/>
          </a:xfrm>
        </p:spPr>
        <p:txBody>
          <a:bodyPr/>
          <a:lstStyle/>
          <a:p>
            <a:r>
              <a:rPr kumimoji="1" lang="ko-Kore-KR" altLang="en-US" dirty="0"/>
              <a:t>자바스크립트의</a:t>
            </a:r>
            <a:r>
              <a:rPr kumimoji="1" lang="ko-KR" altLang="en-US"/>
              <a:t> 형 변환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DE242-7924-254B-DC73-31246E9C3AA6}"/>
              </a:ext>
            </a:extLst>
          </p:cNvPr>
          <p:cNvSpPr txBox="1"/>
          <p:nvPr/>
        </p:nvSpPr>
        <p:spPr>
          <a:xfrm>
            <a:off x="907027" y="1399449"/>
            <a:ext cx="10854899" cy="13388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# </a:t>
            </a:r>
            <a:r>
              <a:rPr lang="ko-KR" altLang="ko-Kore-KR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자바스크립트는 다른 언어와 다르게 프로그램 실행 중에 자료형이 변환되는 언어</a:t>
            </a:r>
            <a:r>
              <a:rPr lang="en-US" altLang="ko-Kore-KR" b="1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# </a:t>
            </a:r>
            <a:r>
              <a:rPr lang="ko-KR" altLang="ko-Kore-KR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자동으로 형이 변환될 때에도 있</a:t>
            </a:r>
            <a:r>
              <a:rPr lang="ko-KR" altLang="en-US" b="1" kern="0" dirty="0">
                <a:ea typeface="맑은 고딕" panose="020B0503020000020004" pitchFamily="34" charset="-127"/>
                <a:cs typeface="맑은 고딕" panose="020B0503020000020004" pitchFamily="34" charset="-127"/>
              </a:rPr>
              <a:t>다 </a:t>
            </a:r>
            <a:r>
              <a:rPr lang="en-US" altLang="ko-KR" b="1" kern="0" dirty="0">
                <a:ea typeface="맑은 고딕" panose="020B0503020000020004" pitchFamily="34" charset="-127"/>
                <a:cs typeface="맑은 고딕" panose="020B0503020000020004" pitchFamily="34" charset="-127"/>
                <a:sym typeface="Wingdings" panose="05000000000000000000" pitchFamily="2" charset="2"/>
              </a:rPr>
              <a:t> </a:t>
            </a:r>
            <a:r>
              <a:rPr lang="ko-KR" altLang="en-US" b="1" kern="0" dirty="0">
                <a:ea typeface="맑은 고딕" panose="020B0503020000020004" pitchFamily="34" charset="-127"/>
                <a:cs typeface="맑은 고딕" panose="020B0503020000020004" pitchFamily="34" charset="-127"/>
                <a:sym typeface="Wingdings" panose="05000000000000000000" pitchFamily="2" charset="2"/>
              </a:rPr>
              <a:t>이런 상황을 미</a:t>
            </a:r>
            <a:r>
              <a:rPr lang="ko-KR" altLang="ko-Kore-KR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리 알아 두지 않으면 오류를 발생시키기도 하고</a:t>
            </a:r>
            <a:r>
              <a:rPr lang="en-US" altLang="ko-Kore-KR" b="1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b="1" kern="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  </a:t>
            </a:r>
            <a:r>
              <a:rPr lang="ko-KR" altLang="ko-Kore-KR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처음에 예상했던 것과 다른 결과가 나올 수도 있습니다</a:t>
            </a:r>
            <a:r>
              <a:rPr lang="en-US" altLang="ko-Kore-KR" b="1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. </a:t>
            </a:r>
            <a:endParaRPr lang="ko-Kore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D94EEB-690B-7E30-E044-712A9CBF1B93}"/>
              </a:ext>
            </a:extLst>
          </p:cNvPr>
          <p:cNvSpPr txBox="1"/>
          <p:nvPr/>
        </p:nvSpPr>
        <p:spPr>
          <a:xfrm>
            <a:off x="895710" y="2979283"/>
            <a:ext cx="4827761" cy="1891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C </a:t>
            </a:r>
            <a:r>
              <a:rPr lang="ko-KR" altLang="en-US" sz="1600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언어나 자바 등 일반 프로그래밍 언어</a:t>
            </a:r>
            <a:endParaRPr lang="en-US" altLang="ko-KR" sz="1600" b="1" kern="0" dirty="0">
              <a:effectLst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600" b="1" kern="0" dirty="0">
              <a:effectLst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kern="0" dirty="0">
                <a:ea typeface="맑은 고딕" panose="020B0503020000020004" pitchFamily="34" charset="-127"/>
              </a:rPr>
              <a:t>변수를 선언할 때 변수의 자료형을 결정</a:t>
            </a:r>
            <a:endParaRPr lang="en-US" altLang="ko-KR" sz="1600" kern="0" dirty="0">
              <a:ea typeface="맑은 고딕" panose="020B05030200000200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kern="0" dirty="0">
                <a:ea typeface="맑은 고딕" panose="020B0503020000020004" pitchFamily="34" charset="-127"/>
              </a:rPr>
              <a:t>자료형에 맞는 값만 변수에 저장 가능</a:t>
            </a:r>
            <a:endParaRPr lang="en-US" altLang="ko-KR" sz="1600" kern="0" dirty="0">
              <a:ea typeface="맑은 고딕" panose="020B05030200000200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kern="0" dirty="0">
                <a:ea typeface="맑은 고딕" panose="020B0503020000020004" pitchFamily="34" charset="-127"/>
              </a:rPr>
              <a:t>자료형으로 인한 프로그램의 오류 방지 가능</a:t>
            </a:r>
            <a:endParaRPr lang="ko-Kore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53CE0E-1F79-9847-16C1-FF76FBF9FF8D}"/>
              </a:ext>
            </a:extLst>
          </p:cNvPr>
          <p:cNvSpPr txBox="1"/>
          <p:nvPr/>
        </p:nvSpPr>
        <p:spPr>
          <a:xfrm>
            <a:off x="1061130" y="5101683"/>
            <a:ext cx="4496919" cy="6617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int num = 20           </a:t>
            </a:r>
            <a:r>
              <a:rPr lang="en-US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정수형 변수 </a:t>
            </a:r>
            <a:r>
              <a:rPr lang="en-US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num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char *name = "John"    </a:t>
            </a:r>
            <a:r>
              <a:rPr lang="en-US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문자형 변수 </a:t>
            </a:r>
            <a:r>
              <a:rPr lang="en-US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name</a:t>
            </a:r>
            <a:r>
              <a:rPr lang="en-US" altLang="ko-Kore-KR" sz="14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 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1C61E9-DD3E-3CDA-D3E5-149E1ECA47E5}"/>
              </a:ext>
            </a:extLst>
          </p:cNvPr>
          <p:cNvSpPr txBox="1"/>
          <p:nvPr/>
        </p:nvSpPr>
        <p:spPr>
          <a:xfrm>
            <a:off x="6164827" y="2979283"/>
            <a:ext cx="5731082" cy="1891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kern="0" dirty="0">
                <a:ea typeface="맑은 고딕" panose="020B0503020000020004" pitchFamily="34" charset="-127"/>
                <a:cs typeface="맑은 고딕" panose="020B0503020000020004" pitchFamily="34" charset="-127"/>
              </a:rPr>
              <a:t>자바스크립트</a:t>
            </a:r>
            <a:endParaRPr lang="en-US" altLang="ko-KR" sz="3200" b="1" kern="0" dirty="0">
              <a:solidFill>
                <a:srgbClr val="FF0000"/>
              </a:solidFill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600" b="1" kern="0" dirty="0">
              <a:effectLst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kern="0" dirty="0">
                <a:ea typeface="맑은 고딕" panose="020B0503020000020004" pitchFamily="34" charset="-127"/>
              </a:rPr>
              <a:t>변수를 선언할 때 자료형 지정하지 않음</a:t>
            </a:r>
            <a:endParaRPr lang="en-US" altLang="ko-KR" sz="1600" kern="0" dirty="0">
              <a:ea typeface="맑은 고딕" panose="020B05030200000200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kern="0" dirty="0">
                <a:ea typeface="맑은 고딕" panose="020B0503020000020004" pitchFamily="34" charset="-127"/>
              </a:rPr>
              <a:t>변수에 값을 저장할 때 자료형 결정</a:t>
            </a:r>
            <a:endParaRPr lang="en-US" altLang="ko-KR" sz="1600" kern="0" dirty="0">
              <a:ea typeface="맑은 고딕" panose="020B05030200000200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ore-KR" altLang="en-US" sz="1600" dirty="0"/>
              <a:t>편리하긴</a:t>
            </a:r>
            <a:r>
              <a:rPr lang="ko-KR" altLang="en-US" sz="1600"/>
              <a:t> 하지만</a:t>
            </a:r>
            <a:r>
              <a:rPr lang="en-US" altLang="ko-KR" sz="1600" dirty="0"/>
              <a:t> </a:t>
            </a:r>
            <a:r>
              <a:rPr lang="ko-KR" altLang="en-US" sz="1600" dirty="0"/>
              <a:t>변수를 일관성 있게 유지하기 힘들다</a:t>
            </a:r>
            <a:endParaRPr lang="ko-Kore-KR" alt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D8D6A-74B9-81B1-952B-81E0DEC4CF1B}"/>
              </a:ext>
            </a:extLst>
          </p:cNvPr>
          <p:cNvSpPr txBox="1"/>
          <p:nvPr/>
        </p:nvSpPr>
        <p:spPr>
          <a:xfrm>
            <a:off x="6406083" y="5152263"/>
            <a:ext cx="3251724" cy="6617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num = 20       </a:t>
            </a:r>
            <a:r>
              <a:rPr lang="en-US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숫자형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num = "John"   </a:t>
            </a:r>
            <a:r>
              <a:rPr lang="en-US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문자열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770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F37AC-315F-B01C-5996-FEF2D9F21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5" y="148652"/>
            <a:ext cx="10515600" cy="1325563"/>
          </a:xfrm>
        </p:spPr>
        <p:txBody>
          <a:bodyPr/>
          <a:lstStyle/>
          <a:p>
            <a:r>
              <a:rPr kumimoji="1" lang="ko-Kore-KR" altLang="en-US" dirty="0"/>
              <a:t>자동</a:t>
            </a:r>
            <a:r>
              <a:rPr kumimoji="1" lang="ko-KR" altLang="en-US"/>
              <a:t> 형 변환</a:t>
            </a:r>
            <a:endParaRPr kumimoji="1" lang="ko-Kore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E6ECA-489A-E2D8-0D2E-3F06C744137B}"/>
              </a:ext>
            </a:extLst>
          </p:cNvPr>
          <p:cNvSpPr txBox="1"/>
          <p:nvPr/>
        </p:nvSpPr>
        <p:spPr>
          <a:xfrm>
            <a:off x="1120185" y="1434019"/>
            <a:ext cx="73061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b="1" dirty="0"/>
              <a:t># </a:t>
            </a:r>
            <a:r>
              <a:rPr kumimoji="1" lang="ko-Kore-KR" altLang="en-US" b="1" dirty="0"/>
              <a:t>변수에</a:t>
            </a:r>
            <a:r>
              <a:rPr kumimoji="1" lang="ko-KR" altLang="en-US" b="1"/>
              <a:t> 값을 저장할 때 자료형이 결정되기도 하지만</a:t>
            </a:r>
            <a:endParaRPr kumimoji="1" lang="en-US" altLang="ko-KR" b="1" dirty="0"/>
          </a:p>
          <a:p>
            <a:pPr>
              <a:lnSpc>
                <a:spcPct val="150000"/>
              </a:lnSpc>
            </a:pPr>
            <a:r>
              <a:rPr kumimoji="1" lang="en-US" altLang="ko-KR" b="1" dirty="0"/>
              <a:t># </a:t>
            </a:r>
            <a:r>
              <a:rPr kumimoji="1" lang="ko-KR" altLang="en-US" b="1" dirty="0"/>
              <a:t>연산을 할 때 자료형이 자동으로 변환된다</a:t>
            </a:r>
            <a:r>
              <a:rPr kumimoji="1" lang="en-US" altLang="ko-KR" b="1" dirty="0"/>
              <a:t>.</a:t>
            </a:r>
            <a:r>
              <a:rPr kumimoji="1" lang="ko-KR" altLang="en-US" b="1" dirty="0"/>
              <a:t> 주의해야 함</a:t>
            </a:r>
            <a:r>
              <a:rPr kumimoji="1" lang="en-US" altLang="ko-KR" b="1" dirty="0"/>
              <a:t>!</a:t>
            </a:r>
          </a:p>
          <a:p>
            <a:pPr>
              <a:lnSpc>
                <a:spcPct val="150000"/>
              </a:lnSpc>
            </a:pPr>
            <a:r>
              <a:rPr kumimoji="1" lang="en-US" altLang="ko-KR" b="1" dirty="0"/>
              <a:t># </a:t>
            </a:r>
            <a:r>
              <a:rPr kumimoji="1" lang="ko-KR" altLang="en-US" b="1" dirty="0"/>
              <a:t>문자열을 사칙 연산에 사용하면 자동으로 숫자형으로 변환됨</a:t>
            </a:r>
            <a:endParaRPr kumimoji="1" lang="en-US" altLang="ko-KR" b="1" dirty="0"/>
          </a:p>
          <a:p>
            <a:pPr>
              <a:lnSpc>
                <a:spcPct val="150000"/>
              </a:lnSpc>
            </a:pPr>
            <a:r>
              <a:rPr kumimoji="1" lang="en-US" altLang="ko-KR" b="1" dirty="0"/>
              <a:t># </a:t>
            </a:r>
            <a:r>
              <a:rPr kumimoji="1" lang="ko-KR" altLang="en-US" b="1" dirty="0"/>
              <a:t>숫자와 문자열을 연결하면 숫자가 문자열로 변환됨</a:t>
            </a:r>
            <a:endParaRPr kumimoji="1" lang="ko-Kore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6ACD84-8EAF-436E-9324-445645398D0E}"/>
              </a:ext>
            </a:extLst>
          </p:cNvPr>
          <p:cNvSpPr txBox="1"/>
          <p:nvPr/>
        </p:nvSpPr>
        <p:spPr>
          <a:xfrm>
            <a:off x="1207991" y="3592406"/>
            <a:ext cx="3485585" cy="6617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one = "20"    </a:t>
            </a:r>
            <a:r>
              <a:rPr lang="en-US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문자열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two = 10     </a:t>
            </a:r>
            <a:r>
              <a:rPr lang="ko-KR" altLang="en-US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</a:t>
            </a:r>
            <a:r>
              <a:rPr lang="en-US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숫자형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78ED24-8691-4E5D-7751-01EA67975612}"/>
              </a:ext>
            </a:extLst>
          </p:cNvPr>
          <p:cNvSpPr txBox="1"/>
          <p:nvPr/>
        </p:nvSpPr>
        <p:spPr>
          <a:xfrm>
            <a:off x="1207991" y="4647064"/>
            <a:ext cx="3485585" cy="6617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one + two   </a:t>
            </a:r>
            <a:r>
              <a:rPr lang="ko-KR" altLang="en-US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</a:t>
            </a:r>
            <a:r>
              <a:rPr lang="en-US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"2010”</a:t>
            </a: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/>
              <a:t>one - two  </a:t>
            </a:r>
            <a:r>
              <a:rPr lang="ko-KR" altLang="en-US" sz="1600"/>
              <a:t>         </a:t>
            </a:r>
            <a:r>
              <a:rPr lang="en-US" altLang="ko-Kore-KR" sz="1400">
                <a:solidFill>
                  <a:schemeClr val="bg1">
                    <a:lumMod val="50000"/>
                  </a:schemeClr>
                </a:solidFill>
              </a:rPr>
              <a:t>// 10</a:t>
            </a:r>
            <a:endParaRPr lang="ko-Kore-KR" altLang="ko-Kore-KR" sz="16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08C4AB-0AAB-275A-2BE8-E950621552A1}"/>
              </a:ext>
            </a:extLst>
          </p:cNvPr>
          <p:cNvSpPr txBox="1"/>
          <p:nvPr/>
        </p:nvSpPr>
        <p:spPr>
          <a:xfrm>
            <a:off x="5562708" y="3393752"/>
            <a:ext cx="5902859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1400" b="1" dirty="0"/>
              <a:t>+</a:t>
            </a:r>
            <a:r>
              <a:rPr kumimoji="1" lang="ko-KR" altLang="en-US" sz="1400" b="1" dirty="0"/>
              <a:t> 연산자</a:t>
            </a:r>
            <a:endParaRPr kumimoji="1" lang="en-US" altLang="ko-KR" sz="1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+</a:t>
            </a:r>
            <a:r>
              <a:rPr kumimoji="1" lang="ko-KR" altLang="en-US" sz="1400" dirty="0"/>
              <a:t> 기호 앞이나 뒤에 문자열이 있으면 </a:t>
            </a:r>
            <a:r>
              <a:rPr kumimoji="1" lang="en-US" altLang="ko-KR" sz="1400" dirty="0"/>
              <a:t>＂</a:t>
            </a:r>
            <a:r>
              <a:rPr kumimoji="1" lang="ko-KR" altLang="en-US" sz="1400" dirty="0"/>
              <a:t>연결 연산자</a:t>
            </a:r>
            <a:r>
              <a:rPr kumimoji="1" lang="en-US" altLang="ko-KR" sz="1400" dirty="0"/>
              <a:t>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+</a:t>
            </a:r>
            <a:r>
              <a:rPr kumimoji="1" lang="ko-KR" altLang="en-US" sz="1400" dirty="0"/>
              <a:t> 기호 앞뒤에 숫자가 있으면 </a:t>
            </a:r>
            <a:r>
              <a:rPr kumimoji="1" lang="en-US" altLang="ko-KR" sz="1400" dirty="0"/>
              <a:t>“</a:t>
            </a:r>
            <a:r>
              <a:rPr kumimoji="1" lang="ko-KR" altLang="en-US" sz="1400" dirty="0"/>
              <a:t>더하기 연산자</a:t>
            </a:r>
            <a:r>
              <a:rPr kumimoji="1" lang="en-US" altLang="ko-KR" sz="1400" dirty="0"/>
              <a:t>”</a:t>
            </a:r>
            <a:endParaRPr kumimoji="1" lang="ko-Kore-KR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4775F5-2A0F-900B-4427-F3A05536E7AF}"/>
              </a:ext>
            </a:extLst>
          </p:cNvPr>
          <p:cNvSpPr txBox="1"/>
          <p:nvPr/>
        </p:nvSpPr>
        <p:spPr>
          <a:xfrm>
            <a:off x="5562708" y="4647064"/>
            <a:ext cx="5902859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400" b="1"/>
              <a:t>-,</a:t>
            </a:r>
            <a:r>
              <a:rPr kumimoji="1" lang="ko-KR" altLang="en-US" sz="1400" b="1"/>
              <a:t> *</a:t>
            </a:r>
            <a:r>
              <a:rPr kumimoji="1" lang="en-US" altLang="ko-KR" sz="1400" b="1"/>
              <a:t>,</a:t>
            </a:r>
            <a:r>
              <a:rPr kumimoji="1" lang="ko-KR" altLang="en-US" sz="1400" b="1"/>
              <a:t> </a:t>
            </a:r>
            <a:r>
              <a:rPr kumimoji="1" lang="en-US" altLang="ko-KR" sz="1400" b="1"/>
              <a:t>/</a:t>
            </a:r>
            <a:r>
              <a:rPr kumimoji="1" lang="ko-KR" altLang="en-US" sz="1400" b="1"/>
              <a:t> 연산자</a:t>
            </a:r>
            <a:endParaRPr kumimoji="1" lang="en-US" altLang="ko-KR" sz="1400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/>
              <a:t>기호 앞이나 뒤에 문자열이 있으면 숫자로 인식함</a:t>
            </a:r>
            <a:endParaRPr kumimoji="1" lang="ko-Kore-KR" altLang="en-US" sz="1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162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F37AC-315F-B01C-5996-FEF2D9F21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462" y="159230"/>
            <a:ext cx="10515600" cy="1325563"/>
          </a:xfrm>
        </p:spPr>
        <p:txBody>
          <a:bodyPr/>
          <a:lstStyle/>
          <a:p>
            <a:r>
              <a:rPr kumimoji="1" lang="ko-Kore-KR" altLang="en-US" dirty="0"/>
              <a:t>숫자형으로</a:t>
            </a:r>
            <a:r>
              <a:rPr kumimoji="1" lang="ko-KR" altLang="en-US"/>
              <a:t> 변환하기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Number()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40AC94-0888-1AC6-A8DB-9D296091C638}"/>
              </a:ext>
            </a:extLst>
          </p:cNvPr>
          <p:cNvSpPr txBox="1"/>
          <p:nvPr/>
        </p:nvSpPr>
        <p:spPr>
          <a:xfrm>
            <a:off x="1016005" y="1388039"/>
            <a:ext cx="10879177" cy="5539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ore-KR" sz="2000" b="1" dirty="0"/>
              <a:t>문자열</a:t>
            </a:r>
            <a:r>
              <a:rPr lang="en-US" altLang="ko-KR" sz="2000" b="1" dirty="0"/>
              <a:t> </a:t>
            </a:r>
            <a:r>
              <a:rPr lang="ko-KR" altLang="ko-Kore-KR" sz="2000" b="1" dirty="0"/>
              <a:t>뿐만 아니라 </a:t>
            </a:r>
            <a:r>
              <a:rPr lang="en-US" altLang="ko-Kore-KR" sz="2000" b="1" dirty="0"/>
              <a:t>null</a:t>
            </a:r>
            <a:r>
              <a:rPr lang="ko-KR" altLang="ko-Kore-KR" sz="2000" b="1" dirty="0"/>
              <a:t>과 </a:t>
            </a:r>
            <a:r>
              <a:rPr lang="en-US" altLang="ko-Kore-KR" sz="2000" b="1" dirty="0" err="1"/>
              <a:t>undefind</a:t>
            </a:r>
            <a:r>
              <a:rPr lang="ko-KR" altLang="ko-Kore-KR" sz="2000" b="1" dirty="0"/>
              <a:t>를 포함해서 모든 자료형을 숫자로 변환할 수 있다 </a:t>
            </a:r>
            <a:endParaRPr lang="ko-Kore-KR" altLang="ko-Kore-KR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90AB8-8CB5-6BA4-85D2-0EAF5849CF62}"/>
              </a:ext>
            </a:extLst>
          </p:cNvPr>
          <p:cNvSpPr txBox="1"/>
          <p:nvPr/>
        </p:nvSpPr>
        <p:spPr>
          <a:xfrm>
            <a:off x="732554" y="2142049"/>
            <a:ext cx="60975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ore-KR" sz="1600" b="1" dirty="0"/>
              <a:t>Number() </a:t>
            </a:r>
            <a:r>
              <a:rPr lang="ko-KR" altLang="ko-Kore-KR" sz="1600" b="1" dirty="0"/>
              <a:t>함수의 변환 규칙</a:t>
            </a:r>
            <a:endParaRPr lang="ko-Kore-KR" altLang="ko-Kore-KR" sz="1600" b="1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9EA7B23-B186-E44E-1E8B-5C3F4AC252D8}"/>
              </a:ext>
            </a:extLst>
          </p:cNvPr>
          <p:cNvGraphicFramePr>
            <a:graphicFrameLocks noGrp="1"/>
          </p:cNvGraphicFramePr>
          <p:nvPr/>
        </p:nvGraphicFramePr>
        <p:xfrm>
          <a:off x="840505" y="2545667"/>
          <a:ext cx="6347631" cy="3663462"/>
        </p:xfrm>
        <a:graphic>
          <a:graphicData uri="http://schemas.openxmlformats.org/drawingml/2006/table">
            <a:tbl>
              <a:tblPr firstRow="1" firstCol="1" bandRow="1"/>
              <a:tblGrid>
                <a:gridCol w="2337255">
                  <a:extLst>
                    <a:ext uri="{9D8B030D-6E8A-4147-A177-3AD203B41FA5}">
                      <a16:colId xmlns:a16="http://schemas.microsoft.com/office/drawing/2014/main" val="3115278943"/>
                    </a:ext>
                  </a:extLst>
                </a:gridCol>
                <a:gridCol w="4010376">
                  <a:extLst>
                    <a:ext uri="{9D8B030D-6E8A-4147-A177-3AD203B41FA5}">
                      <a16:colId xmlns:a16="http://schemas.microsoft.com/office/drawing/2014/main" val="1646580396"/>
                    </a:ext>
                  </a:extLst>
                </a:gridCol>
              </a:tblGrid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ko-KR" sz="1600" b="1" kern="100" dirty="0">
                          <a:effectLst/>
                        </a:rPr>
                        <a:t>기존 유형</a:t>
                      </a:r>
                      <a:endParaRPr lang="ko-Kore-KR" sz="1600" b="1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sz="1600" b="1" kern="100" dirty="0">
                          <a:effectLst/>
                        </a:rPr>
                        <a:t>변환 결과</a:t>
                      </a:r>
                      <a:endParaRPr lang="ko-Kore-KR" sz="1600" b="1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041499"/>
                  </a:ext>
                </a:extLst>
              </a:tr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true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>
                          <a:effectLst/>
                        </a:rPr>
                        <a:t>1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58992228"/>
                  </a:ext>
                </a:extLst>
              </a:tr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false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0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99617547"/>
                  </a:ext>
                </a:extLst>
              </a:tr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>
                          <a:effectLst/>
                        </a:rPr>
                        <a:t>숫자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 dirty="0">
                          <a:effectLst/>
                        </a:rPr>
                        <a:t>숫자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66512983"/>
                  </a:ext>
                </a:extLst>
              </a:tr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null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>
                          <a:effectLst/>
                        </a:rPr>
                        <a:t>0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3214481"/>
                  </a:ext>
                </a:extLst>
              </a:tr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>
                          <a:effectLst/>
                        </a:rPr>
                        <a:t>undefined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 err="1">
                          <a:effectLst/>
                        </a:rPr>
                        <a:t>NaN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80476544"/>
                  </a:ext>
                </a:extLst>
              </a:tr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 dirty="0">
                          <a:effectLst/>
                        </a:rPr>
                        <a:t>정수 문자열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 dirty="0">
                          <a:effectLst/>
                        </a:rPr>
                        <a:t>정수</a:t>
                      </a:r>
                      <a:r>
                        <a:rPr lang="en-US" sz="1600" kern="100" dirty="0">
                          <a:effectLst/>
                        </a:rPr>
                        <a:t>(</a:t>
                      </a:r>
                      <a:r>
                        <a:rPr lang="ko-KR" sz="1600" kern="100" dirty="0">
                          <a:effectLst/>
                        </a:rPr>
                        <a:t>맨 앞에 </a:t>
                      </a:r>
                      <a:r>
                        <a:rPr lang="en-US" sz="1600" kern="100" dirty="0">
                          <a:effectLst/>
                        </a:rPr>
                        <a:t>0</a:t>
                      </a:r>
                      <a:r>
                        <a:rPr lang="ko-KR" sz="1600" kern="100" dirty="0">
                          <a:effectLst/>
                        </a:rPr>
                        <a:t>이 있으면 제거</a:t>
                      </a:r>
                      <a:r>
                        <a:rPr lang="en-US" sz="1600" kern="100" dirty="0">
                          <a:effectLst/>
                        </a:rPr>
                        <a:t>)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28455770"/>
                  </a:ext>
                </a:extLst>
              </a:tr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 dirty="0">
                          <a:effectLst/>
                        </a:rPr>
                        <a:t>실수 문자열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 dirty="0">
                          <a:effectLst/>
                        </a:rPr>
                        <a:t>실수</a:t>
                      </a:r>
                      <a:r>
                        <a:rPr lang="en-US" sz="1600" kern="100" dirty="0">
                          <a:effectLst/>
                        </a:rPr>
                        <a:t>(</a:t>
                      </a:r>
                      <a:r>
                        <a:rPr lang="ko-KR" sz="1600" kern="100" dirty="0">
                          <a:effectLst/>
                        </a:rPr>
                        <a:t>맨 앞에</a:t>
                      </a:r>
                      <a:r>
                        <a:rPr lang="en-US" sz="1600" kern="100" dirty="0">
                          <a:effectLst/>
                        </a:rPr>
                        <a:t> 0</a:t>
                      </a:r>
                      <a:r>
                        <a:rPr lang="ko-KR" sz="1600" kern="100" dirty="0">
                          <a:effectLst/>
                        </a:rPr>
                        <a:t>이 있으면 제거</a:t>
                      </a:r>
                      <a:r>
                        <a:rPr lang="en-US" sz="1600" kern="100" dirty="0">
                          <a:effectLst/>
                        </a:rPr>
                        <a:t>)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42617121"/>
                  </a:ext>
                </a:extLst>
              </a:tr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>
                          <a:effectLst/>
                        </a:rPr>
                        <a:t>16</a:t>
                      </a:r>
                      <a:r>
                        <a:rPr lang="ko-KR" sz="1600" kern="100" dirty="0">
                          <a:effectLst/>
                        </a:rPr>
                        <a:t>진수 문자열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>
                          <a:effectLst/>
                        </a:rPr>
                        <a:t>10</a:t>
                      </a:r>
                      <a:r>
                        <a:rPr lang="ko-KR" sz="1600" kern="100" dirty="0">
                          <a:effectLst/>
                        </a:rPr>
                        <a:t>진수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19183434"/>
                  </a:ext>
                </a:extLst>
              </a:tr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 dirty="0">
                          <a:effectLst/>
                        </a:rPr>
                        <a:t>빈 문자열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>
                          <a:effectLst/>
                        </a:rPr>
                        <a:t>0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87750759"/>
                  </a:ext>
                </a:extLst>
              </a:tr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 dirty="0">
                          <a:effectLst/>
                        </a:rPr>
                        <a:t>위 상황 외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 err="1">
                          <a:effectLst/>
                        </a:rPr>
                        <a:t>NaN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5998452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E27269E-11FC-57A9-7456-F7AA3906F735}"/>
              </a:ext>
            </a:extLst>
          </p:cNvPr>
          <p:cNvSpPr txBox="1"/>
          <p:nvPr/>
        </p:nvSpPr>
        <p:spPr>
          <a:xfrm>
            <a:off x="7455359" y="4099330"/>
            <a:ext cx="4439823" cy="107721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 smtClean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Console.log(Number(true)) </a:t>
            </a:r>
            <a:r>
              <a:rPr lang="en-US" altLang="ko-Kore-KR" sz="18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1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Console.log(Number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("20</a:t>
            </a:r>
            <a:r>
              <a:rPr lang="en-US" altLang="ko-Kore-KR" sz="1800" kern="100" dirty="0" smtClean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"))   </a:t>
            </a:r>
            <a:r>
              <a:rPr lang="en-US" altLang="ko-Kore-KR" sz="18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20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Console.log(Number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("Hi</a:t>
            </a:r>
            <a:r>
              <a:rPr lang="en-US" altLang="ko-Kore-KR" sz="1800" kern="100" dirty="0" smtClean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?")) </a:t>
            </a:r>
            <a:r>
              <a:rPr lang="en-US" altLang="ko-Kore-KR" sz="18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en-US" altLang="ko-Kore-KR" sz="1800" kern="100" dirty="0" err="1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NaN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159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C8107-E8A6-0023-8096-9319111C8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062" y="345288"/>
            <a:ext cx="10924389" cy="842573"/>
          </a:xfrm>
        </p:spPr>
        <p:txBody>
          <a:bodyPr>
            <a:normAutofit/>
          </a:bodyPr>
          <a:lstStyle/>
          <a:p>
            <a:r>
              <a:rPr kumimoji="1" lang="ko-Kore-KR" altLang="en-US" sz="4000" dirty="0"/>
              <a:t>숫자형으로</a:t>
            </a:r>
            <a:r>
              <a:rPr kumimoji="1" lang="ko-KR" altLang="en-US" sz="4000"/>
              <a:t> 변환하기 </a:t>
            </a:r>
            <a:r>
              <a:rPr kumimoji="1" lang="en-US" altLang="ko-KR" sz="4000" dirty="0"/>
              <a:t>–</a:t>
            </a:r>
            <a:r>
              <a:rPr kumimoji="1" lang="ko-KR" altLang="en-US" sz="4000" dirty="0"/>
              <a:t> </a:t>
            </a:r>
            <a:r>
              <a:rPr kumimoji="1" lang="en-US" altLang="ko-KR" sz="4000" dirty="0" err="1"/>
              <a:t>parseInt</a:t>
            </a:r>
            <a:r>
              <a:rPr kumimoji="1" lang="en-US" altLang="ko-KR" sz="4000" dirty="0"/>
              <a:t>(), </a:t>
            </a:r>
            <a:r>
              <a:rPr kumimoji="1" lang="en-US" altLang="ko-KR" sz="4000" dirty="0" err="1"/>
              <a:t>parseFloat</a:t>
            </a:r>
            <a:r>
              <a:rPr kumimoji="1" lang="en-US" altLang="ko-KR" sz="4000" dirty="0"/>
              <a:t>()</a:t>
            </a:r>
            <a:endParaRPr kumimoji="1" lang="ko-Kore-KR" alt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16A000-C8BE-CEB7-472F-4AEF35E63598}"/>
              </a:ext>
            </a:extLst>
          </p:cNvPr>
          <p:cNvSpPr txBox="1"/>
          <p:nvPr/>
        </p:nvSpPr>
        <p:spPr>
          <a:xfrm>
            <a:off x="1023193" y="1373919"/>
            <a:ext cx="60975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ore-KR" sz="18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partseInt</a:t>
            </a:r>
            <a:r>
              <a:rPr lang="en-US" altLang="ko-Kore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() </a:t>
            </a:r>
            <a:r>
              <a:rPr lang="ko-KR" altLang="ko-Kore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함수</a:t>
            </a:r>
            <a:r>
              <a:rPr lang="en-US" altLang="ko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: </a:t>
            </a:r>
            <a:r>
              <a:rPr lang="ko-KR" altLang="ko-Kore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괄호 안의 값을 정수로 변환</a:t>
            </a:r>
            <a:endParaRPr lang="en-US" altLang="ko-KR" sz="18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ore-KR" sz="18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parseFloat</a:t>
            </a:r>
            <a:r>
              <a:rPr lang="en-US" altLang="ko-Kore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() </a:t>
            </a:r>
            <a:r>
              <a:rPr lang="ko-KR" altLang="ko-Kore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함수</a:t>
            </a:r>
            <a:r>
              <a:rPr lang="en-US" altLang="ko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: </a:t>
            </a:r>
            <a:r>
              <a:rPr lang="ko-KR" altLang="ko-Kore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괄호 안의 값을 실수로 변환</a:t>
            </a:r>
            <a:endParaRPr lang="ko-Kore-KR" altLang="ko-Kore-KR" sz="18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맑은 고딕" panose="020B0503020000020004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F24614-68E7-5682-F29A-E400D5F4674E}"/>
              </a:ext>
            </a:extLst>
          </p:cNvPr>
          <p:cNvSpPr txBox="1"/>
          <p:nvPr/>
        </p:nvSpPr>
        <p:spPr>
          <a:xfrm>
            <a:off x="1023193" y="2792021"/>
            <a:ext cx="7806350" cy="4653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let </a:t>
            </a:r>
            <a:r>
              <a:rPr lang="en-US" altLang="ko-Kore-KR" sz="18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userInput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= </a:t>
            </a:r>
            <a:r>
              <a:rPr lang="en-US" altLang="ko-Kore-KR" sz="18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parseInt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(prompt("</a:t>
            </a:r>
            <a:r>
              <a:rPr lang="ko-KR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아무 숫자나 입력하세요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."));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6C85E4-0358-CD9E-1E88-65C4C8C6FFCE}"/>
              </a:ext>
            </a:extLst>
          </p:cNvPr>
          <p:cNvSpPr txBox="1"/>
          <p:nvPr/>
        </p:nvSpPr>
        <p:spPr>
          <a:xfrm>
            <a:off x="1023193" y="3730755"/>
            <a:ext cx="6097508" cy="7232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let </a:t>
            </a:r>
            <a:r>
              <a:rPr lang="en-US" altLang="ko-Kore-KR" sz="18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bodyHeat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= prompt("</a:t>
            </a:r>
            <a:r>
              <a:rPr lang="ko-KR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현재 체온은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?")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parseFloat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(</a:t>
            </a:r>
            <a:r>
              <a:rPr lang="en-US" altLang="ko-Kore-KR" sz="18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bodyHeat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)      </a:t>
            </a:r>
            <a:r>
              <a:rPr lang="en-US" altLang="ko-Kore-KR" sz="18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36.4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461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7E07F4-7619-3A8D-AC02-1DF33A63D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462" y="136485"/>
            <a:ext cx="10515600" cy="1325563"/>
          </a:xfrm>
        </p:spPr>
        <p:txBody>
          <a:bodyPr/>
          <a:lstStyle/>
          <a:p>
            <a:r>
              <a:rPr kumimoji="1" lang="ko-Kore-KR" altLang="en-US" dirty="0"/>
              <a:t>문자열로</a:t>
            </a:r>
            <a:r>
              <a:rPr kumimoji="1" lang="ko-KR" altLang="en-US"/>
              <a:t> 변환하기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toString</a:t>
            </a:r>
            <a:r>
              <a:rPr kumimoji="1" lang="en-US" altLang="ko-KR" dirty="0"/>
              <a:t>()</a:t>
            </a:r>
            <a:r>
              <a:rPr kumimoji="1" lang="ko-KR" altLang="en-US" dirty="0"/>
              <a:t> 함수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66666-85BA-F5BA-30FA-C52BCFEF5AD2}"/>
              </a:ext>
            </a:extLst>
          </p:cNvPr>
          <p:cNvSpPr txBox="1"/>
          <p:nvPr/>
        </p:nvSpPr>
        <p:spPr>
          <a:xfrm>
            <a:off x="1176528" y="1469882"/>
            <a:ext cx="10418064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# </a:t>
            </a:r>
            <a:r>
              <a:rPr lang="en-US" altLang="ko-Kore-KR" b="1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null </a:t>
            </a:r>
            <a:r>
              <a:rPr lang="ko-KR" altLang="ko-Kore-KR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데이터형과</a:t>
            </a:r>
            <a:r>
              <a:rPr lang="en-US" altLang="ko-Kore-KR" b="1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 undefined </a:t>
            </a:r>
            <a:r>
              <a:rPr lang="ko-KR" altLang="ko-Kore-KR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데이터형을 제외한 데이터형을 문자열 데이터로 변환</a:t>
            </a:r>
            <a:endParaRPr lang="en-US" altLang="ko-KR" b="1" kern="0" dirty="0">
              <a:effectLst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# </a:t>
            </a:r>
            <a:r>
              <a:rPr lang="ko-KR" altLang="ko-Kore-KR" b="1" kern="0" dirty="0" err="1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원랫값</a:t>
            </a:r>
            <a:r>
              <a:rPr lang="ko-KR" altLang="ko-Kore-KR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뒤에 마침표를 붙이고 함수</a:t>
            </a:r>
            <a:r>
              <a:rPr lang="ko-KR" altLang="en-US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를</a:t>
            </a:r>
            <a:r>
              <a:rPr lang="ko-KR" altLang="ko-Kore-KR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ko-KR" altLang="en-US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작성</a:t>
            </a:r>
            <a:endParaRPr lang="en-US" altLang="ko-KR" b="1" kern="0" dirty="0">
              <a:effectLst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b="1" kern="0" dirty="0">
                <a:ea typeface="맑은 고딕" panose="020B0503020000020004" pitchFamily="34" charset="-127"/>
              </a:rPr>
              <a:t># </a:t>
            </a:r>
            <a:r>
              <a:rPr lang="ko-KR" altLang="en-US" b="1" kern="0" dirty="0">
                <a:ea typeface="맑은 고딕" panose="020B0503020000020004" pitchFamily="34" charset="-127"/>
              </a:rPr>
              <a:t>숫자를 문자열로 변환할 때는</a:t>
            </a:r>
            <a:r>
              <a:rPr lang="en-US" altLang="ko-KR" b="1" kern="0" dirty="0">
                <a:ea typeface="맑은 고딕" panose="020B0503020000020004" pitchFamily="34" charset="-127"/>
              </a:rPr>
              <a:t> basis </a:t>
            </a:r>
            <a:r>
              <a:rPr lang="ko-KR" altLang="en-US" b="1" kern="0" dirty="0">
                <a:ea typeface="맑은 고딕" panose="020B0503020000020004" pitchFamily="34" charset="-127"/>
              </a:rPr>
              <a:t>옵션을 사용해  숫자가 </a:t>
            </a:r>
            <a:r>
              <a:rPr lang="en-US" altLang="ko-KR" b="1" kern="0" dirty="0">
                <a:ea typeface="맑은 고딕" panose="020B0503020000020004" pitchFamily="34" charset="-127"/>
              </a:rPr>
              <a:t>10</a:t>
            </a:r>
            <a:r>
              <a:rPr lang="ko-KR" altLang="en-US" b="1" kern="0" dirty="0">
                <a:ea typeface="맑은 고딕" panose="020B0503020000020004" pitchFamily="34" charset="-127"/>
              </a:rPr>
              <a:t>진수인지</a:t>
            </a:r>
            <a:r>
              <a:rPr lang="en-US" altLang="ko-KR" b="1" kern="0" dirty="0">
                <a:ea typeface="맑은 고딕" panose="020B0503020000020004" pitchFamily="34" charset="-127"/>
              </a:rPr>
              <a:t>,</a:t>
            </a:r>
            <a:r>
              <a:rPr lang="ko-KR" altLang="en-US" b="1" kern="0" dirty="0">
                <a:ea typeface="맑은 고딕" panose="020B0503020000020004" pitchFamily="34" charset="-127"/>
              </a:rPr>
              <a:t> </a:t>
            </a:r>
            <a:r>
              <a:rPr lang="en-US" altLang="ko-KR" b="1" kern="0" dirty="0">
                <a:ea typeface="맑은 고딕" panose="020B0503020000020004" pitchFamily="34" charset="-127"/>
              </a:rPr>
              <a:t>2</a:t>
            </a:r>
            <a:r>
              <a:rPr lang="ko-KR" altLang="en-US" b="1" kern="0" dirty="0">
                <a:ea typeface="맑은 고딕" panose="020B0503020000020004" pitchFamily="34" charset="-127"/>
              </a:rPr>
              <a:t>진수인지 같이 지정</a:t>
            </a:r>
            <a:r>
              <a:rPr lang="en-US" altLang="ko-KR" b="1" kern="0" dirty="0">
                <a:ea typeface="맑은 고딕" panose="020B0503020000020004" pitchFamily="34" charset="-127"/>
              </a:rPr>
              <a:t>.</a:t>
            </a:r>
            <a:endParaRPr lang="ko-Kore-KR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1AE7E8-180C-AACF-B9B4-9A0A9CDDE476}"/>
              </a:ext>
            </a:extLst>
          </p:cNvPr>
          <p:cNvSpPr txBox="1"/>
          <p:nvPr/>
        </p:nvSpPr>
        <p:spPr>
          <a:xfrm>
            <a:off x="838200" y="3044843"/>
            <a:ext cx="2932611" cy="957763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ko-KR" altLang="ko-Kore-KR" sz="1800" i="1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값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.</a:t>
            </a:r>
            <a:r>
              <a:rPr lang="en-US" altLang="ko-Kore-KR" sz="18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toString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()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ko-KR" altLang="ko-Kore-KR" sz="1800" i="1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값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.</a:t>
            </a:r>
            <a:r>
              <a:rPr lang="en-US" altLang="ko-Kore-KR" sz="18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toString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(</a:t>
            </a:r>
            <a:r>
              <a:rPr lang="en-US" altLang="ko-Kore-KR" sz="1800" i="1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basis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)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6C478D-7E83-2502-F802-E4F19EE0F9B4}"/>
              </a:ext>
            </a:extLst>
          </p:cNvPr>
          <p:cNvSpPr txBox="1"/>
          <p:nvPr/>
        </p:nvSpPr>
        <p:spPr>
          <a:xfrm>
            <a:off x="5290954" y="3081257"/>
            <a:ext cx="6097508" cy="8608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num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= 10            </a:t>
            </a:r>
            <a:r>
              <a:rPr lang="en-US" altLang="ko-Kore-KR" sz="16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600" kern="100" dirty="0" err="1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원랫값</a:t>
            </a:r>
            <a:r>
              <a:rPr lang="ko-KR" altLang="ko-Kore-KR" sz="16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</a:t>
            </a:r>
            <a:r>
              <a:rPr lang="ko-KR" altLang="ko-Kore-KR" sz="1600" kern="100" dirty="0" err="1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숫자형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isEmpty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= true       </a:t>
            </a:r>
            <a:r>
              <a:rPr lang="en-US" altLang="ko-Kore-KR" sz="16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600" kern="100" dirty="0" err="1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원랫값</a:t>
            </a:r>
            <a:r>
              <a:rPr lang="ko-KR" altLang="ko-Kore-KR" sz="16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논리형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42E0DB-C4A5-C227-C4B2-4C574063DE50}"/>
              </a:ext>
            </a:extLst>
          </p:cNvPr>
          <p:cNvSpPr txBox="1"/>
          <p:nvPr/>
        </p:nvSpPr>
        <p:spPr>
          <a:xfrm>
            <a:off x="5290954" y="4147662"/>
            <a:ext cx="6097508" cy="129785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num.toString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()       </a:t>
            </a:r>
            <a:r>
              <a:rPr lang="en-US" altLang="ko-Kore-KR" sz="16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'10', 10</a:t>
            </a:r>
            <a:r>
              <a:rPr lang="ko-KR" altLang="ko-Kore-KR" sz="16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진수 문자열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num.toString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(2)      </a:t>
            </a:r>
            <a:r>
              <a:rPr lang="en-US" altLang="ko-Kore-KR" sz="16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'1010', 2</a:t>
            </a:r>
            <a:r>
              <a:rPr lang="ko-KR" altLang="ko-Kore-KR" sz="16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진수 문자열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isEmpty.toString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()    </a:t>
            </a:r>
            <a:r>
              <a:rPr lang="en-US" altLang="ko-Kore-KR" sz="16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'true'</a:t>
            </a: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371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7E07F4-7619-3A8D-AC02-1DF33A63D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462" y="188517"/>
            <a:ext cx="10515600" cy="1325563"/>
          </a:xfrm>
        </p:spPr>
        <p:txBody>
          <a:bodyPr/>
          <a:lstStyle/>
          <a:p>
            <a:r>
              <a:rPr kumimoji="1" lang="ko-Kore-KR" altLang="en-US" dirty="0"/>
              <a:t>문자열로</a:t>
            </a:r>
            <a:r>
              <a:rPr kumimoji="1" lang="ko-KR" altLang="en-US"/>
              <a:t> 변환하기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String()</a:t>
            </a:r>
            <a:r>
              <a:rPr kumimoji="1" lang="ko-KR" altLang="en-US" dirty="0"/>
              <a:t> 함수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66666-85BA-F5BA-30FA-C52BCFEF5AD2}"/>
              </a:ext>
            </a:extLst>
          </p:cNvPr>
          <p:cNvSpPr txBox="1"/>
          <p:nvPr/>
        </p:nvSpPr>
        <p:spPr>
          <a:xfrm>
            <a:off x="838199" y="1409620"/>
            <a:ext cx="1093745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# </a:t>
            </a:r>
            <a:r>
              <a:rPr lang="en-US" altLang="ko-Kore-KR" sz="2000" b="1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null </a:t>
            </a:r>
            <a:r>
              <a:rPr lang="ko-KR" altLang="ko-Kore-KR" sz="2000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데이터형과</a:t>
            </a:r>
            <a:r>
              <a:rPr lang="en-US" altLang="ko-Kore-KR" sz="2000" b="1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 undefined </a:t>
            </a:r>
            <a:r>
              <a:rPr lang="ko-KR" altLang="ko-Kore-KR" sz="2000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데이터형을 </a:t>
            </a:r>
            <a:r>
              <a:rPr lang="ko-KR" altLang="en-US" sz="2000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포함해서</a:t>
            </a:r>
            <a:r>
              <a:rPr lang="ko-KR" altLang="ko-Kore-KR" sz="2000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문자열 데이터로 변환</a:t>
            </a:r>
            <a:endParaRPr lang="en-US" altLang="ko-KR" sz="2000" b="1" kern="0" dirty="0">
              <a:effectLst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# String() </a:t>
            </a:r>
            <a:r>
              <a:rPr lang="ko-KR" altLang="en-US" sz="2000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함수의 괄호 안에 값을 넣어서 변환</a:t>
            </a:r>
            <a:endParaRPr lang="en-US" altLang="ko-KR" sz="2000" b="1" kern="0" dirty="0">
              <a:effectLst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# </a:t>
            </a:r>
            <a:r>
              <a:rPr lang="en-US" altLang="ko-Kore-KR" sz="2000" b="1" dirty="0"/>
              <a:t>null</a:t>
            </a:r>
            <a:r>
              <a:rPr lang="ko-KR" altLang="ko-Kore-KR" sz="2000" b="1" dirty="0"/>
              <a:t>이면 </a:t>
            </a:r>
            <a:r>
              <a:rPr lang="en-US" altLang="ko-Kore-KR" sz="2000" b="1" dirty="0"/>
              <a:t>‘null’</a:t>
            </a:r>
            <a:r>
              <a:rPr lang="ko-KR" altLang="ko-Kore-KR" sz="2000" b="1" dirty="0"/>
              <a:t>로</a:t>
            </a:r>
            <a:r>
              <a:rPr lang="en-US" altLang="ko-Kore-KR" sz="2000" b="1" dirty="0"/>
              <a:t>, undefined</a:t>
            </a:r>
            <a:r>
              <a:rPr lang="ko-KR" altLang="ko-Kore-KR" sz="2000" b="1" dirty="0"/>
              <a:t>이면 </a:t>
            </a:r>
            <a:r>
              <a:rPr lang="en-US" altLang="ko-Kore-KR" sz="2000" b="1" dirty="0"/>
              <a:t>‘undefined’</a:t>
            </a:r>
            <a:r>
              <a:rPr lang="ko-KR" altLang="ko-Kore-KR" sz="2000" b="1" dirty="0"/>
              <a:t>로 변환</a:t>
            </a:r>
            <a:r>
              <a:rPr lang="en-US" altLang="ko-Kore-KR" sz="2000" b="1" dirty="0"/>
              <a:t>.</a:t>
            </a:r>
            <a:r>
              <a:rPr lang="ko-Kore-KR" altLang="en-US" sz="2000" b="1" dirty="0"/>
              <a:t> 그</a:t>
            </a:r>
            <a:r>
              <a:rPr lang="ko-KR" altLang="en-US" sz="2000" b="1"/>
              <a:t> 외에는 </a:t>
            </a:r>
            <a:r>
              <a:rPr lang="en-US" altLang="ko-KR" sz="2000" b="1" dirty="0" err="1"/>
              <a:t>toString</a:t>
            </a:r>
            <a:r>
              <a:rPr lang="en-US" altLang="ko-KR" sz="2000" b="1" dirty="0"/>
              <a:t>() </a:t>
            </a:r>
            <a:r>
              <a:rPr lang="ko-KR" altLang="en-US" sz="2000" b="1" dirty="0"/>
              <a:t>함수와 같다</a:t>
            </a:r>
            <a:r>
              <a:rPr lang="en-US" altLang="ko-KR" sz="2000" b="1" dirty="0"/>
              <a:t>.</a:t>
            </a:r>
            <a:endParaRPr lang="en-US" altLang="ko-KR" sz="2000" b="1" kern="0" dirty="0">
              <a:effectLst/>
              <a:ea typeface="맑은 고딕" panose="020B0503020000020004" pitchFamily="34" charset="-127"/>
              <a:cs typeface="맑은 고딕" panose="020B0503020000020004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1AE7E8-180C-AACF-B9B4-9A0A9CDDE476}"/>
              </a:ext>
            </a:extLst>
          </p:cNvPr>
          <p:cNvSpPr txBox="1"/>
          <p:nvPr/>
        </p:nvSpPr>
        <p:spPr>
          <a:xfrm>
            <a:off x="1016005" y="3489088"/>
            <a:ext cx="2549435" cy="46532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String(</a:t>
            </a:r>
            <a:r>
              <a:rPr lang="ko-KR" altLang="en-US" sz="1800" i="1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값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)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42E0DB-C4A5-C227-C4B2-4C574063DE50}"/>
              </a:ext>
            </a:extLst>
          </p:cNvPr>
          <p:cNvSpPr txBox="1"/>
          <p:nvPr/>
        </p:nvSpPr>
        <p:spPr>
          <a:xfrm>
            <a:off x="5196681" y="3491102"/>
            <a:ext cx="6097508" cy="17348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kern="1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isFull</a:t>
            </a:r>
            <a:r>
              <a:rPr lang="en-US" altLang="ko-Kore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= false        </a:t>
            </a:r>
            <a:r>
              <a:rPr lang="en-US" altLang="ko-Kore-KR" sz="1600" kern="1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en-US" sz="1600" kern="100" dirty="0" err="1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원랫값</a:t>
            </a:r>
            <a:r>
              <a:rPr lang="ko-KR" altLang="en-US" sz="1600" kern="1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논리형</a:t>
            </a:r>
            <a:endParaRPr lang="ko-KR" altLang="en-US" kern="100" dirty="0">
              <a:solidFill>
                <a:schemeClr val="bg1">
                  <a:lumMod val="50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kern="1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initValue</a:t>
            </a:r>
            <a:r>
              <a:rPr lang="en-US" altLang="ko-Kore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= null    </a:t>
            </a:r>
            <a:r>
              <a:rPr lang="ko-KR" altLang="en-US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</a:t>
            </a:r>
            <a:r>
              <a:rPr lang="en-US" altLang="ko-Kore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</a:t>
            </a:r>
            <a:r>
              <a:rPr lang="en-US" altLang="ko-Kore-KR" sz="1600" kern="1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en-US" sz="1600" kern="100" dirty="0" err="1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원랫값</a:t>
            </a:r>
            <a:r>
              <a:rPr lang="ko-KR" altLang="en-US" sz="1600" kern="1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</a:t>
            </a:r>
            <a:r>
              <a:rPr lang="en-US" altLang="ko-Kore-KR" sz="1600" kern="1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null</a:t>
            </a:r>
            <a:r>
              <a:rPr lang="ko-KR" altLang="en-US" sz="1600" kern="1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형</a:t>
            </a:r>
          </a:p>
          <a:p>
            <a:pPr marL="63500" marR="63500" latinLnBrk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String(</a:t>
            </a:r>
            <a:r>
              <a:rPr lang="en-US" altLang="ko-Kore-KR" kern="1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isFull</a:t>
            </a:r>
            <a:r>
              <a:rPr lang="en-US" altLang="ko-Kore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)        </a:t>
            </a:r>
            <a:r>
              <a:rPr lang="en-US" altLang="ko-Kore-KR" sz="1600" kern="1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'false'</a:t>
            </a:r>
          </a:p>
          <a:p>
            <a:pPr marL="63500" marR="63500" latinLnBrk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String(</a:t>
            </a:r>
            <a:r>
              <a:rPr lang="en-US" altLang="ko-Kore-KR" kern="1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initValue</a:t>
            </a:r>
            <a:r>
              <a:rPr lang="en-US" altLang="ko-Kore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)     </a:t>
            </a:r>
            <a:r>
              <a:rPr lang="en-US" altLang="ko-Kore-KR" sz="1600" kern="1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'null'</a:t>
            </a:r>
            <a:endParaRPr lang="en-US" altLang="ko-Kore-KR" kern="100" dirty="0">
              <a:solidFill>
                <a:schemeClr val="bg1">
                  <a:lumMod val="50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539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7E07F4-7619-3A8D-AC02-1DF33A63D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462" y="188517"/>
            <a:ext cx="10515600" cy="1325563"/>
          </a:xfrm>
        </p:spPr>
        <p:txBody>
          <a:bodyPr/>
          <a:lstStyle/>
          <a:p>
            <a:r>
              <a:rPr kumimoji="1" lang="en-US" altLang="en-US" dirty="0" err="1"/>
              <a:t>toString</a:t>
            </a:r>
            <a:r>
              <a:rPr kumimoji="1" lang="en-US" altLang="en-US" dirty="0"/>
              <a:t>() </a:t>
            </a:r>
            <a:r>
              <a:rPr kumimoji="1" lang="ko-KR" altLang="en-US" dirty="0"/>
              <a:t>함수와 </a:t>
            </a:r>
            <a:r>
              <a:rPr kumimoji="1" lang="en-US" altLang="ko-KR" dirty="0"/>
              <a:t>String() </a:t>
            </a:r>
            <a:r>
              <a:rPr kumimoji="1" lang="ko-KR" altLang="en-US" dirty="0"/>
              <a:t>함수의 차이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66666-85BA-F5BA-30FA-C52BCFEF5AD2}"/>
              </a:ext>
            </a:extLst>
          </p:cNvPr>
          <p:cNvSpPr txBox="1"/>
          <p:nvPr/>
        </p:nvSpPr>
        <p:spPr>
          <a:xfrm>
            <a:off x="838199" y="1409620"/>
            <a:ext cx="10937458" cy="14178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# </a:t>
            </a:r>
            <a:r>
              <a:rPr lang="ko-KR" altLang="en-US" sz="2000" b="1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사용 </a:t>
            </a:r>
            <a:r>
              <a:rPr lang="ko-KR" altLang="en-US" sz="2000" b="1" kern="0" dirty="0">
                <a:latin typeface="맑은 고딕" panose="020B0503020000020004" pitchFamily="34" charset="-127"/>
                <a:cs typeface="맑은 고딕" panose="020B0503020000020004" pitchFamily="34" charset="-127"/>
              </a:rPr>
              <a:t>방법과 </a:t>
            </a:r>
            <a:r>
              <a:rPr lang="en-US" altLang="ko-KR" sz="2000" b="1" kern="0" dirty="0">
                <a:latin typeface="맑은 고딕" panose="020B0503020000020004" pitchFamily="34" charset="-127"/>
                <a:cs typeface="맑은 고딕" panose="020B0503020000020004" pitchFamily="34" charset="-127"/>
              </a:rPr>
              <a:t>null, undefined </a:t>
            </a:r>
            <a:r>
              <a:rPr lang="ko-KR" altLang="en-US" sz="2000" b="1" kern="0" dirty="0">
                <a:latin typeface="맑은 고딕" panose="020B0503020000020004" pitchFamily="34" charset="-127"/>
                <a:cs typeface="맑은 고딕" panose="020B0503020000020004" pitchFamily="34" charset="-127"/>
              </a:rPr>
              <a:t>처리</a:t>
            </a:r>
            <a:endParaRPr lang="en-US" altLang="ko-KR" sz="2000" b="1" kern="0" dirty="0">
              <a:latin typeface="맑은 고딕" panose="020B0503020000020004" pitchFamily="34" charset="-127"/>
              <a:cs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kern="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# </a:t>
            </a:r>
            <a:r>
              <a:rPr lang="en-US" altLang="ko-KR" sz="2000" b="1" kern="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toString</a:t>
            </a:r>
            <a:r>
              <a:rPr lang="en-US" altLang="ko-KR" sz="2000" b="1" kern="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()</a:t>
            </a:r>
            <a:r>
              <a:rPr lang="ko-KR" altLang="en-US" sz="2000" b="1" kern="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은 객체나 값이 가지고 있는 메서드를 호출하는 방식</a:t>
            </a:r>
            <a:endParaRPr lang="en-US" altLang="ko-KR" sz="2000" b="1" kern="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kern="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# String()</a:t>
            </a:r>
            <a:r>
              <a:rPr lang="ko-KR" altLang="en-US" sz="2000" b="1" kern="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은 값을 문자열로 변환하는 내장 함수</a:t>
            </a:r>
            <a:endParaRPr lang="en-US" altLang="ko-KR" sz="2000" b="1" kern="0" dirty="0">
              <a:effectLst/>
              <a:ea typeface="맑은 고딕" panose="020B0503020000020004" pitchFamily="34" charset="-127"/>
              <a:cs typeface="맑은 고딕" panose="020B0503020000020004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0685C797-6C39-4F7F-9F84-CFD0E7F62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733" y="2925964"/>
            <a:ext cx="7353929" cy="3506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801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7E07F4-7619-3A8D-AC02-1DF33A63D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196494"/>
            <a:ext cx="10515600" cy="1325563"/>
          </a:xfrm>
        </p:spPr>
        <p:txBody>
          <a:bodyPr/>
          <a:lstStyle/>
          <a:p>
            <a:r>
              <a:rPr kumimoji="1" lang="ko-Kore-KR" altLang="en-US" dirty="0"/>
              <a:t>논리형으로</a:t>
            </a:r>
            <a:r>
              <a:rPr kumimoji="1" lang="ko-KR" altLang="en-US"/>
              <a:t> 변환하기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Boolean()</a:t>
            </a:r>
            <a:r>
              <a:rPr kumimoji="1" lang="ko-KR" altLang="en-US" dirty="0"/>
              <a:t> 함수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66666-85BA-F5BA-30FA-C52BCFEF5AD2}"/>
              </a:ext>
            </a:extLst>
          </p:cNvPr>
          <p:cNvSpPr txBox="1"/>
          <p:nvPr/>
        </p:nvSpPr>
        <p:spPr>
          <a:xfrm>
            <a:off x="1264919" y="1263295"/>
            <a:ext cx="9506713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# </a:t>
            </a:r>
            <a:r>
              <a:rPr lang="ko-KR" altLang="ko-Kore-KR" sz="2000" b="1" dirty="0"/>
              <a:t>다른 유형의 데이터를 논리형 데이터로 변환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# </a:t>
            </a:r>
            <a:r>
              <a:rPr lang="ko-KR" altLang="ko-Kore-KR" sz="2000" b="1" dirty="0"/>
              <a:t>함수</a:t>
            </a:r>
            <a:r>
              <a:rPr lang="ko-KR" altLang="en-US" sz="2000" b="1" dirty="0"/>
              <a:t>의</a:t>
            </a:r>
            <a:r>
              <a:rPr lang="ko-KR" altLang="ko-Kore-KR" sz="2000" b="1" dirty="0"/>
              <a:t> 괄호 안에 </a:t>
            </a:r>
            <a:r>
              <a:rPr lang="ko-KR" altLang="ko-Kore-KR" sz="2000" b="1" dirty="0" err="1"/>
              <a:t>원랫값을</a:t>
            </a:r>
            <a:r>
              <a:rPr lang="ko-KR" altLang="ko-Kore-KR" sz="2000" b="1" dirty="0"/>
              <a:t> 넣</a:t>
            </a:r>
            <a:r>
              <a:rPr lang="ko-KR" altLang="en-US" sz="2000" b="1" dirty="0"/>
              <a:t>는다</a:t>
            </a:r>
            <a:r>
              <a:rPr lang="en-US" altLang="ko-KR" sz="2000" b="1" dirty="0"/>
              <a:t>.</a:t>
            </a:r>
            <a:endParaRPr lang="ko-Kore-KR" altLang="ko-Kore-KR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1AE7E8-180C-AACF-B9B4-9A0A9CDDE476}"/>
              </a:ext>
            </a:extLst>
          </p:cNvPr>
          <p:cNvSpPr txBox="1"/>
          <p:nvPr/>
        </p:nvSpPr>
        <p:spPr>
          <a:xfrm>
            <a:off x="911352" y="2493963"/>
            <a:ext cx="3643265" cy="46532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Boolean(</a:t>
            </a:r>
            <a:r>
              <a:rPr lang="ko-KR" altLang="en-US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값</a:t>
            </a: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)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797D31-83F4-31D9-F14B-A425D57F5716}"/>
              </a:ext>
            </a:extLst>
          </p:cNvPr>
          <p:cNvSpPr txBox="1"/>
          <p:nvPr/>
        </p:nvSpPr>
        <p:spPr>
          <a:xfrm>
            <a:off x="781552" y="3133954"/>
            <a:ext cx="3612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b="1" dirty="0"/>
              <a:t>논리형으로</a:t>
            </a:r>
            <a:r>
              <a:rPr kumimoji="1" lang="ko-KR" altLang="en-US" b="1"/>
              <a:t> 변환할 때의 규칙</a:t>
            </a:r>
            <a:endParaRPr kumimoji="1" lang="ko-Kore-KR" altLang="en-US" b="1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D887465-8F3D-BD6A-317A-C86ACE2EA658}"/>
              </a:ext>
            </a:extLst>
          </p:cNvPr>
          <p:cNvGraphicFramePr>
            <a:graphicFrameLocks noGrp="1"/>
          </p:cNvGraphicFramePr>
          <p:nvPr/>
        </p:nvGraphicFramePr>
        <p:xfrm>
          <a:off x="781552" y="3609636"/>
          <a:ext cx="6350768" cy="2827376"/>
        </p:xfrm>
        <a:graphic>
          <a:graphicData uri="http://schemas.openxmlformats.org/drawingml/2006/table">
            <a:tbl>
              <a:tblPr firstRow="1" firstCol="1" bandRow="1"/>
              <a:tblGrid>
                <a:gridCol w="1173933">
                  <a:extLst>
                    <a:ext uri="{9D8B030D-6E8A-4147-A177-3AD203B41FA5}">
                      <a16:colId xmlns:a16="http://schemas.microsoft.com/office/drawing/2014/main" val="1681496600"/>
                    </a:ext>
                  </a:extLst>
                </a:gridCol>
                <a:gridCol w="2468469">
                  <a:extLst>
                    <a:ext uri="{9D8B030D-6E8A-4147-A177-3AD203B41FA5}">
                      <a16:colId xmlns:a16="http://schemas.microsoft.com/office/drawing/2014/main" val="1613877429"/>
                    </a:ext>
                  </a:extLst>
                </a:gridCol>
                <a:gridCol w="2708366">
                  <a:extLst>
                    <a:ext uri="{9D8B030D-6E8A-4147-A177-3AD203B41FA5}">
                      <a16:colId xmlns:a16="http://schemas.microsoft.com/office/drawing/2014/main" val="558497595"/>
                    </a:ext>
                  </a:extLst>
                </a:gridCol>
              </a:tblGrid>
              <a:tr h="727628">
                <a:tc>
                  <a:txBody>
                    <a:bodyPr/>
                    <a:lstStyle/>
                    <a:p>
                      <a:pPr algn="l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kern="100" dirty="0">
                          <a:effectLst/>
                        </a:rPr>
                        <a:t>true </a:t>
                      </a:r>
                      <a:r>
                        <a:rPr lang="ko-KR" sz="1600" kern="100" dirty="0">
                          <a:effectLst/>
                        </a:rPr>
                        <a:t>값이 되는 데이터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kern="100" dirty="0">
                          <a:effectLst/>
                        </a:rPr>
                        <a:t>false </a:t>
                      </a:r>
                      <a:r>
                        <a:rPr lang="ko-KR" sz="1600" kern="100" dirty="0">
                          <a:effectLst/>
                        </a:rPr>
                        <a:t>값이 되는 데이터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43398497"/>
                  </a:ext>
                </a:extLst>
              </a:tr>
              <a:tr h="644492">
                <a:tc>
                  <a:txBody>
                    <a:bodyPr/>
                    <a:lstStyle/>
                    <a:p>
                      <a:pPr algn="l"/>
                      <a:r>
                        <a:rPr lang="ko-KR" sz="1600" kern="100">
                          <a:effectLst/>
                        </a:rPr>
                        <a:t>숫자형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kern="100">
                          <a:effectLst/>
                        </a:rPr>
                        <a:t>0</a:t>
                      </a:r>
                      <a:r>
                        <a:rPr lang="ko-KR" sz="1600" kern="100">
                          <a:effectLst/>
                        </a:rPr>
                        <a:t>이 아닌 값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kern="100" dirty="0">
                          <a:effectLst/>
                        </a:rPr>
                        <a:t>0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70502628"/>
                  </a:ext>
                </a:extLst>
              </a:tr>
              <a:tr h="727628">
                <a:tc>
                  <a:txBody>
                    <a:bodyPr/>
                    <a:lstStyle/>
                    <a:p>
                      <a:pPr algn="l"/>
                      <a:r>
                        <a:rPr lang="ko-KR" sz="1600" kern="100">
                          <a:effectLst/>
                        </a:rPr>
                        <a:t>문자열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600" kern="100">
                          <a:effectLst/>
                        </a:rPr>
                        <a:t>빈 문자열이 아닌 모든 문자열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600" kern="100" dirty="0">
                          <a:effectLst/>
                        </a:rPr>
                        <a:t>빈 문자열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94926892"/>
                  </a:ext>
                </a:extLst>
              </a:tr>
              <a:tr h="727628">
                <a:tc>
                  <a:txBody>
                    <a:bodyPr/>
                    <a:lstStyle/>
                    <a:p>
                      <a:pPr algn="l"/>
                      <a:r>
                        <a:rPr lang="en-US" sz="1600" kern="100">
                          <a:effectLst/>
                        </a:rPr>
                        <a:t>undefined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kern="100">
                          <a:effectLst/>
                        </a:rPr>
                        <a:t>-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kern="100" dirty="0">
                          <a:effectLst/>
                        </a:rPr>
                        <a:t>undefined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173938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3511D5D-CFB2-FE56-5909-21679A2F981E}"/>
              </a:ext>
            </a:extLst>
          </p:cNvPr>
          <p:cNvSpPr txBox="1"/>
          <p:nvPr/>
        </p:nvSpPr>
        <p:spPr>
          <a:xfrm>
            <a:off x="7540763" y="4484715"/>
            <a:ext cx="4376597" cy="107721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Boolean(5 * 4)        </a:t>
            </a:r>
            <a:r>
              <a:rPr lang="en-US" altLang="ko-Kore-KR" sz="18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true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Boolean("Hi?")        </a:t>
            </a:r>
            <a:r>
              <a:rPr lang="en-US" altLang="ko-Kore-KR" sz="18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true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Boolean(undefined)   </a:t>
            </a:r>
            <a:r>
              <a:rPr lang="ko-KR" altLang="en-US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</a:t>
            </a:r>
            <a:r>
              <a:rPr lang="en-US" altLang="ko-Kore-KR" sz="18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false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794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96654" y="1776355"/>
            <a:ext cx="9439275" cy="14715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ko-KR" altLang="en-US" sz="3600" b="1" dirty="0"/>
              <a:t>크롬 </a:t>
            </a:r>
            <a:r>
              <a:rPr lang="ko-KR" altLang="en-US" sz="3600" b="1" dirty="0" err="1"/>
              <a:t>웹브라우저</a:t>
            </a:r>
            <a:r>
              <a:rPr lang="ko-KR" altLang="en-US" sz="3600" b="1" dirty="0"/>
              <a:t> 주소</a:t>
            </a:r>
            <a:r>
              <a:rPr lang="en-US" altLang="ko-KR" sz="3600" b="1" dirty="0"/>
              <a:t> </a:t>
            </a:r>
            <a:r>
              <a:rPr lang="ko-KR" altLang="en-US" sz="3600" b="1" dirty="0"/>
              <a:t>표시줄 </a:t>
            </a:r>
            <a:r>
              <a:rPr lang="en-US" altLang="ko-KR" sz="3600" b="1" dirty="0" err="1"/>
              <a:t>about:blank</a:t>
            </a:r>
            <a:endParaRPr lang="en-US" altLang="ko-KR" sz="3600" b="1" dirty="0"/>
          </a:p>
          <a:p>
            <a:r>
              <a:rPr lang="ko-KR" altLang="en-US" sz="3600" b="1" dirty="0"/>
              <a:t>개발자 도구 </a:t>
            </a:r>
            <a:r>
              <a:rPr lang="en-US" altLang="ko-KR" sz="3600" b="1" dirty="0"/>
              <a:t>ctrl + shift + 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5" y="159230"/>
            <a:ext cx="9439275" cy="104062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ko-KR" altLang="en-US" sz="4400" b="1" dirty="0" err="1"/>
              <a:t>기본환경</a:t>
            </a:r>
            <a:endParaRPr lang="en-US" altLang="ko-KR" sz="4400" b="1" dirty="0"/>
          </a:p>
        </p:txBody>
      </p:sp>
    </p:spTree>
    <p:extLst>
      <p:ext uri="{BB962C8B-B14F-4D97-AF65-F5344CB8AC3E}">
        <p14:creationId xmlns:p14="http://schemas.microsoft.com/office/powerpoint/2010/main" val="1959924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585173" y="1533758"/>
            <a:ext cx="9439275" cy="36875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400" b="1" dirty="0"/>
              <a:t>prompt(“</a:t>
            </a:r>
            <a:r>
              <a:rPr lang="ko-KR" altLang="en-US" sz="2400" b="1" dirty="0"/>
              <a:t>메시지</a:t>
            </a:r>
            <a:r>
              <a:rPr lang="en-US" altLang="ko-KR" sz="2400" b="1" dirty="0"/>
              <a:t>”,”</a:t>
            </a:r>
            <a:r>
              <a:rPr lang="ko-KR" altLang="en-US" sz="2400" b="1" dirty="0"/>
              <a:t>디폴트 값</a:t>
            </a:r>
            <a:r>
              <a:rPr lang="en-US" altLang="ko-KR" sz="2400" b="1" dirty="0"/>
              <a:t>”) // “</a:t>
            </a:r>
            <a:r>
              <a:rPr lang="ko-KR" altLang="en-US" sz="2400" b="1" dirty="0" err="1"/>
              <a:t>어떤값</a:t>
            </a:r>
            <a:r>
              <a:rPr lang="en-US" altLang="ko-KR" sz="2400" b="1" dirty="0"/>
              <a:t>”,”</a:t>
            </a:r>
            <a:r>
              <a:rPr lang="ko-KR" altLang="en-US" sz="2400" b="1" dirty="0"/>
              <a:t>이름</a:t>
            </a:r>
            <a:r>
              <a:rPr lang="en-US" altLang="ko-KR" sz="2400" b="1" dirty="0"/>
              <a:t>“</a:t>
            </a:r>
          </a:p>
          <a:p>
            <a:r>
              <a:rPr lang="en-US" altLang="ko-KR" sz="2400" b="1" dirty="0" err="1"/>
              <a:t>const</a:t>
            </a:r>
            <a:r>
              <a:rPr lang="en-US" altLang="ko-KR" sz="2400" b="1" dirty="0"/>
              <a:t> a =prompt(“</a:t>
            </a:r>
            <a:r>
              <a:rPr lang="ko-KR" altLang="en-US" sz="2400" b="1" dirty="0"/>
              <a:t>이름을 입력하세요</a:t>
            </a:r>
            <a:r>
              <a:rPr lang="en-US" altLang="ko-KR" sz="2400" b="1" dirty="0"/>
              <a:t>“,””); </a:t>
            </a:r>
          </a:p>
          <a:p>
            <a:r>
              <a:rPr lang="ko-KR" altLang="en-US" sz="2400" b="1" dirty="0"/>
              <a:t>이름</a:t>
            </a:r>
            <a:r>
              <a:rPr lang="en-US" altLang="ko-KR" sz="2400" b="1" dirty="0"/>
              <a:t>   -&gt; </a:t>
            </a:r>
            <a:r>
              <a:rPr lang="ko-KR" altLang="en-US" sz="2400" b="1" dirty="0"/>
              <a:t>이름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출력   </a:t>
            </a:r>
            <a:endParaRPr lang="en-US" altLang="ko-KR" sz="2400" b="1" dirty="0"/>
          </a:p>
          <a:p>
            <a:r>
              <a:rPr lang="en-US" altLang="ko-KR" sz="2400" b="1" dirty="0"/>
              <a:t>//  </a:t>
            </a:r>
            <a:r>
              <a:rPr lang="ko-KR" altLang="en-US" sz="2400" b="1" dirty="0"/>
              <a:t>함수 실행 결과로 나온 최종 결과를 </a:t>
            </a:r>
            <a:r>
              <a:rPr lang="en-US" altLang="ko-KR" sz="2400" b="1" dirty="0"/>
              <a:t>‘</a:t>
            </a:r>
            <a:r>
              <a:rPr lang="ko-KR" altLang="en-US" sz="2400" b="1" dirty="0" err="1"/>
              <a:t>리턴값</a:t>
            </a:r>
            <a:r>
              <a:rPr lang="en-US" altLang="ko-KR" sz="2400" b="1" dirty="0"/>
              <a:t>‘</a:t>
            </a:r>
          </a:p>
          <a:p>
            <a:endParaRPr lang="en-US" altLang="ko-KR" sz="2400" b="1" dirty="0"/>
          </a:p>
          <a:p>
            <a:r>
              <a:rPr lang="en-US" altLang="ko-KR" sz="2400" b="1" dirty="0"/>
              <a:t>confirm(“</a:t>
            </a:r>
            <a:r>
              <a:rPr lang="ko-KR" altLang="en-US" sz="2400" b="1" dirty="0"/>
              <a:t>메시지</a:t>
            </a:r>
            <a:r>
              <a:rPr lang="en-US" altLang="ko-KR" sz="2400" b="1" dirty="0">
                <a:sym typeface="Wingdings" panose="05000000000000000000" pitchFamily="2" charset="2"/>
              </a:rPr>
              <a:t>”); //</a:t>
            </a:r>
            <a:r>
              <a:rPr lang="ko-KR" altLang="en-US" sz="2400" b="1" dirty="0">
                <a:sym typeface="Wingdings" panose="05000000000000000000" pitchFamily="2" charset="2"/>
              </a:rPr>
              <a:t>확인 누르면 </a:t>
            </a:r>
            <a:r>
              <a:rPr lang="en-US" altLang="ko-KR" sz="2400" b="1" dirty="0">
                <a:sym typeface="Wingdings" panose="05000000000000000000" pitchFamily="2" charset="2"/>
              </a:rPr>
              <a:t>true, </a:t>
            </a:r>
            <a:r>
              <a:rPr lang="ko-KR" altLang="en-US" sz="2400" b="1" dirty="0">
                <a:sym typeface="Wingdings" panose="05000000000000000000" pitchFamily="2" charset="2"/>
              </a:rPr>
              <a:t>취소 </a:t>
            </a:r>
            <a:r>
              <a:rPr lang="en-US" altLang="ko-KR" sz="2400" b="1" dirty="0">
                <a:sym typeface="Wingdings" panose="05000000000000000000" pitchFamily="2" charset="2"/>
              </a:rPr>
              <a:t>false</a:t>
            </a:r>
          </a:p>
          <a:p>
            <a:r>
              <a:rPr lang="en-US" altLang="ko-KR" sz="2400" b="1" dirty="0" err="1"/>
              <a:t>const</a:t>
            </a:r>
            <a:r>
              <a:rPr lang="en-US" altLang="ko-KR" sz="2400" b="1" dirty="0"/>
              <a:t> b =confirm(“</a:t>
            </a:r>
            <a:r>
              <a:rPr lang="ko-KR" altLang="en-US" sz="2400" b="1" dirty="0"/>
              <a:t>이름을 입력하세요</a:t>
            </a:r>
            <a:r>
              <a:rPr lang="en-US" altLang="ko-KR" sz="2400" b="1" dirty="0"/>
              <a:t>“,””); </a:t>
            </a:r>
          </a:p>
          <a:p>
            <a:r>
              <a:rPr lang="en-US" altLang="ko-KR" sz="2400" b="1" dirty="0"/>
              <a:t>b-&gt; true or false</a:t>
            </a:r>
          </a:p>
          <a:p>
            <a:endParaRPr lang="en-US" altLang="ko-KR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995462" y="312442"/>
            <a:ext cx="10603934" cy="8559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ko-KR" altLang="en-US" sz="3200" b="1" dirty="0"/>
              <a:t>문자열 입력</a:t>
            </a:r>
            <a:r>
              <a:rPr lang="en-US" altLang="ko-KR" sz="3200" b="1" dirty="0"/>
              <a:t> : prompt()</a:t>
            </a:r>
            <a:r>
              <a:rPr lang="ko-KR" altLang="en-US" sz="3200" b="1" dirty="0"/>
              <a:t>함수 </a:t>
            </a:r>
            <a:r>
              <a:rPr lang="en-US" altLang="ko-KR" sz="3200" b="1" dirty="0"/>
              <a:t>, </a:t>
            </a:r>
            <a:r>
              <a:rPr lang="ko-KR" altLang="en-US" sz="3200" b="1" dirty="0"/>
              <a:t>불 입력</a:t>
            </a:r>
            <a:r>
              <a:rPr lang="en-US" altLang="ko-KR" sz="3200" b="1" dirty="0"/>
              <a:t> : confirm()</a:t>
            </a:r>
            <a:r>
              <a:rPr lang="ko-KR" altLang="en-US" sz="3200" b="1" dirty="0"/>
              <a:t>함수</a:t>
            </a:r>
            <a:endParaRPr lang="en-US" altLang="ko-KR" sz="3200" b="1" dirty="0"/>
          </a:p>
        </p:txBody>
      </p:sp>
    </p:spTree>
    <p:extLst>
      <p:ext uri="{BB962C8B-B14F-4D97-AF65-F5344CB8AC3E}">
        <p14:creationId xmlns:p14="http://schemas.microsoft.com/office/powerpoint/2010/main" val="53566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95462" y="280952"/>
            <a:ext cx="9439275" cy="917513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ko-KR" altLang="en-US" sz="3600" b="1" dirty="0"/>
              <a:t>변환</a:t>
            </a:r>
            <a:endParaRPr lang="en-US" altLang="ko-KR" sz="3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165295" y="1417605"/>
            <a:ext cx="10044097" cy="51032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800" b="1" dirty="0"/>
              <a:t># </a:t>
            </a:r>
            <a:r>
              <a:rPr lang="ko-KR" altLang="en-US" sz="2800" b="1" dirty="0"/>
              <a:t>문자열 </a:t>
            </a:r>
            <a:r>
              <a:rPr lang="en-US" altLang="ko-KR" sz="2800" b="1" dirty="0"/>
              <a:t>-&gt; </a:t>
            </a:r>
            <a:r>
              <a:rPr lang="ko-KR" altLang="en-US" sz="2800" b="1" dirty="0"/>
              <a:t>숫자 </a:t>
            </a:r>
            <a:r>
              <a:rPr lang="en-US" altLang="ko-KR" sz="2800" b="1" dirty="0"/>
              <a:t>,        # </a:t>
            </a:r>
            <a:r>
              <a:rPr lang="ko-KR" altLang="en-US" sz="2800" b="1" dirty="0"/>
              <a:t>숫자 </a:t>
            </a:r>
            <a:r>
              <a:rPr lang="en-US" altLang="ko-KR" sz="2800" b="1" dirty="0"/>
              <a:t>-&gt; </a:t>
            </a:r>
            <a:r>
              <a:rPr lang="ko-KR" altLang="en-US" sz="2800" b="1" dirty="0"/>
              <a:t>문자열</a:t>
            </a:r>
            <a:endParaRPr lang="en-US" altLang="ko-KR" sz="2800" b="1" dirty="0"/>
          </a:p>
          <a:p>
            <a:r>
              <a:rPr lang="en-US" altLang="ko-KR" sz="2800" b="1" dirty="0"/>
              <a:t>   “123” -&gt; 123              123 -&gt; “123”</a:t>
            </a:r>
          </a:p>
          <a:p>
            <a:endParaRPr lang="en-US" altLang="ko-KR" sz="2800" b="1" dirty="0"/>
          </a:p>
          <a:p>
            <a:r>
              <a:rPr lang="en-US" altLang="ko-KR" sz="2800" b="1" dirty="0"/>
              <a:t>Number(“</a:t>
            </a:r>
            <a:r>
              <a:rPr lang="ko-KR" altLang="en-US" sz="2800" b="1" dirty="0"/>
              <a:t>안녕하세요</a:t>
            </a:r>
            <a:r>
              <a:rPr lang="en-US" altLang="ko-KR" sz="2800" b="1" dirty="0"/>
              <a:t>“) -&gt; </a:t>
            </a:r>
            <a:r>
              <a:rPr lang="ko-KR" altLang="en-US" sz="2800" b="1" dirty="0"/>
              <a:t>숫자</a:t>
            </a:r>
            <a:r>
              <a:rPr lang="en-US" altLang="ko-KR" sz="2800" b="1" dirty="0"/>
              <a:t>! , </a:t>
            </a:r>
            <a:r>
              <a:rPr lang="ko-KR" altLang="en-US" sz="2800" b="1" dirty="0"/>
              <a:t>특이한 숫자</a:t>
            </a:r>
            <a:endParaRPr lang="en-US" altLang="ko-KR" sz="2800" b="1" dirty="0"/>
          </a:p>
          <a:p>
            <a:r>
              <a:rPr lang="en-US" altLang="ko-KR" sz="2800" b="1" dirty="0"/>
              <a:t>// </a:t>
            </a:r>
            <a:r>
              <a:rPr lang="en-US" altLang="ko-KR" sz="2800" b="1" dirty="0" err="1"/>
              <a:t>NaN</a:t>
            </a:r>
            <a:r>
              <a:rPr lang="en-US" altLang="ko-KR" sz="2800" b="1" dirty="0"/>
              <a:t> (Not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a Number)</a:t>
            </a:r>
          </a:p>
          <a:p>
            <a:r>
              <a:rPr lang="en-US" altLang="ko-KR" sz="2800" b="1" dirty="0"/>
              <a:t>// </a:t>
            </a:r>
            <a:r>
              <a:rPr lang="ko-KR" altLang="en-US" sz="2800" b="1" dirty="0" err="1"/>
              <a:t>자료형은</a:t>
            </a:r>
            <a:r>
              <a:rPr lang="ko-KR" altLang="en-US" sz="2800" b="1" dirty="0"/>
              <a:t> 숫자</a:t>
            </a:r>
            <a:endParaRPr lang="en-US" altLang="ko-KR" sz="2800" b="1" dirty="0"/>
          </a:p>
          <a:p>
            <a:r>
              <a:rPr lang="en-US" altLang="ko-KR" sz="2800" b="1" dirty="0"/>
              <a:t>// </a:t>
            </a:r>
            <a:r>
              <a:rPr lang="en-US" altLang="ko-KR" sz="2800" b="1" dirty="0" err="1"/>
              <a:t>typeof</a:t>
            </a:r>
            <a:r>
              <a:rPr lang="en-US" altLang="ko-KR" sz="2800" b="1" dirty="0"/>
              <a:t>(</a:t>
            </a:r>
            <a:r>
              <a:rPr lang="en-US" altLang="ko-KR" sz="2800" b="1" dirty="0" err="1"/>
              <a:t>NaN</a:t>
            </a:r>
            <a:r>
              <a:rPr lang="en-US" altLang="ko-KR" sz="2800" b="1" dirty="0"/>
              <a:t>) -&gt; “Number”</a:t>
            </a:r>
          </a:p>
          <a:p>
            <a:endParaRPr lang="en-US" altLang="ko-KR" sz="2800" b="1" dirty="0"/>
          </a:p>
          <a:p>
            <a:r>
              <a:rPr lang="en-US" altLang="ko-KR" sz="2800" b="1" dirty="0"/>
              <a:t>// </a:t>
            </a:r>
            <a:r>
              <a:rPr lang="ko-KR" altLang="en-US" sz="2800" b="1" dirty="0"/>
              <a:t>내부는 숫자가 아니기 때문에 계산이 이루어 지지 않음</a:t>
            </a:r>
            <a:endParaRPr lang="en-US" altLang="ko-KR" sz="2800" b="1" dirty="0"/>
          </a:p>
          <a:p>
            <a:endParaRPr lang="en-US" altLang="ko-KR" sz="2800" b="1" dirty="0"/>
          </a:p>
          <a:p>
            <a:endParaRPr lang="en-US" altLang="ko-KR" sz="2800" b="1" dirty="0"/>
          </a:p>
        </p:txBody>
      </p:sp>
    </p:spTree>
    <p:extLst>
      <p:ext uri="{BB962C8B-B14F-4D97-AF65-F5344CB8AC3E}">
        <p14:creationId xmlns:p14="http://schemas.microsoft.com/office/powerpoint/2010/main" val="4273908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95462" y="1524427"/>
            <a:ext cx="10936509" cy="4056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400" b="1" dirty="0"/>
              <a:t>    Number(“123”)               // 123</a:t>
            </a:r>
          </a:p>
          <a:p>
            <a:r>
              <a:rPr lang="en-US" altLang="ko-KR" sz="2400" b="1" dirty="0"/>
              <a:t>    Number(“</a:t>
            </a:r>
            <a:r>
              <a:rPr lang="ko-KR" altLang="en-US" sz="2400" b="1" dirty="0"/>
              <a:t>안녕하세요</a:t>
            </a:r>
            <a:r>
              <a:rPr lang="en-US" altLang="ko-KR" sz="2400" b="1" dirty="0"/>
              <a:t>”)     // </a:t>
            </a:r>
            <a:r>
              <a:rPr lang="en-US" altLang="ko-KR" sz="2400" b="1" dirty="0" err="1"/>
              <a:t>NaN</a:t>
            </a:r>
            <a:endParaRPr lang="en-US" altLang="ko-KR" sz="2400" b="1" dirty="0"/>
          </a:p>
          <a:p>
            <a:r>
              <a:rPr lang="en-US" altLang="ko-KR" sz="2400" b="1" dirty="0"/>
              <a:t>    </a:t>
            </a:r>
            <a:r>
              <a:rPr lang="en-US" altLang="ko-KR" sz="2400" b="1" dirty="0" err="1"/>
              <a:t>const</a:t>
            </a:r>
            <a:r>
              <a:rPr lang="en-US" altLang="ko-KR" sz="2400" b="1" dirty="0"/>
              <a:t> a = Number(＂</a:t>
            </a:r>
            <a:r>
              <a:rPr lang="ko-KR" altLang="en-US" sz="2400" b="1" dirty="0"/>
              <a:t>안녕하세요</a:t>
            </a:r>
            <a:r>
              <a:rPr lang="en-US" altLang="ko-KR" sz="2400" b="1" dirty="0"/>
              <a:t>＂)</a:t>
            </a:r>
          </a:p>
          <a:p>
            <a:r>
              <a:rPr lang="en-US" altLang="ko-KR" sz="2400" b="1" dirty="0"/>
              <a:t>    </a:t>
            </a:r>
            <a:r>
              <a:rPr lang="en-US" altLang="ko-KR" sz="2400" b="1" dirty="0" err="1"/>
              <a:t>typeof</a:t>
            </a:r>
            <a:r>
              <a:rPr lang="en-US" altLang="ko-KR" sz="2400" b="1" dirty="0"/>
              <a:t>(a)                      // number,   </a:t>
            </a:r>
            <a:r>
              <a:rPr lang="en-US" altLang="ko-KR" sz="2400" b="1" dirty="0" err="1"/>
              <a:t>NaN</a:t>
            </a:r>
            <a:r>
              <a:rPr lang="ko-KR" altLang="en-US" sz="2400" b="1" dirty="0"/>
              <a:t>은 제대로 된 숫자는 아니다</a:t>
            </a:r>
            <a:endParaRPr lang="en-US" altLang="ko-KR" sz="2400" b="1" dirty="0"/>
          </a:p>
          <a:p>
            <a:r>
              <a:rPr lang="en-US" altLang="ko-KR" sz="2400" b="1" dirty="0"/>
              <a:t>    </a:t>
            </a:r>
          </a:p>
          <a:p>
            <a:r>
              <a:rPr lang="en-US" altLang="ko-KR" sz="2400" b="1" dirty="0"/>
              <a:t>    a + 100                       //</a:t>
            </a:r>
            <a:r>
              <a:rPr lang="en-US" altLang="ko-KR" sz="2400" b="1" dirty="0" err="1"/>
              <a:t>NaN</a:t>
            </a:r>
            <a:endParaRPr lang="en-US" altLang="ko-KR" sz="2400" b="1" dirty="0"/>
          </a:p>
          <a:p>
            <a:r>
              <a:rPr lang="en-US" altLang="ko-KR" sz="2400" b="1" dirty="0"/>
              <a:t>    a – 100                       //</a:t>
            </a:r>
            <a:r>
              <a:rPr lang="en-US" altLang="ko-KR" sz="2400" b="1" dirty="0" err="1"/>
              <a:t>NaN</a:t>
            </a:r>
            <a:endParaRPr lang="en-US" altLang="ko-KR" sz="2400" b="1" dirty="0"/>
          </a:p>
          <a:p>
            <a:r>
              <a:rPr lang="en-US" altLang="ko-KR" sz="2400" b="1" dirty="0"/>
              <a:t>    a </a:t>
            </a:r>
            <a:r>
              <a:rPr lang="ko-KR" altLang="en-US" sz="2400" b="1" dirty="0"/>
              <a:t>* </a:t>
            </a:r>
            <a:r>
              <a:rPr lang="en-US" altLang="ko-KR" sz="2400" b="1" dirty="0"/>
              <a:t>100                       //</a:t>
            </a:r>
            <a:r>
              <a:rPr lang="en-US" altLang="ko-KR" sz="2400" b="1" dirty="0" err="1"/>
              <a:t>NaN</a:t>
            </a:r>
            <a:endParaRPr lang="en-US" altLang="ko-KR" sz="2400" b="1" dirty="0"/>
          </a:p>
          <a:p>
            <a:r>
              <a:rPr lang="en-US" altLang="ko-KR" sz="2400" b="1" dirty="0"/>
              <a:t>    a / 100                       //</a:t>
            </a:r>
            <a:r>
              <a:rPr lang="en-US" altLang="ko-KR" sz="2400" b="1" dirty="0" err="1"/>
              <a:t>NaN</a:t>
            </a:r>
            <a:endParaRPr lang="en-US" altLang="ko-KR" sz="2400" b="1" dirty="0"/>
          </a:p>
          <a:p>
            <a:endParaRPr lang="en-US" altLang="ko-KR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95462" y="280952"/>
            <a:ext cx="9439275" cy="917513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ko-KR" altLang="en-US" sz="3600" b="1" dirty="0"/>
              <a:t>변환</a:t>
            </a:r>
            <a:endParaRPr lang="en-US" altLang="ko-KR" sz="3600" b="1" dirty="0"/>
          </a:p>
        </p:txBody>
      </p:sp>
    </p:spTree>
    <p:extLst>
      <p:ext uri="{BB962C8B-B14F-4D97-AF65-F5344CB8AC3E}">
        <p14:creationId xmlns:p14="http://schemas.microsoft.com/office/powerpoint/2010/main" val="2793898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95462" y="280952"/>
            <a:ext cx="9439275" cy="917513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ko-KR" altLang="en-US" sz="3600" b="1" dirty="0"/>
              <a:t>변환</a:t>
            </a:r>
            <a:endParaRPr lang="en-US" altLang="ko-KR" sz="3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407891" y="1320187"/>
            <a:ext cx="10044097" cy="51032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800" b="1" dirty="0"/>
              <a:t># </a:t>
            </a:r>
            <a:r>
              <a:rPr lang="ko-KR" altLang="en-US" sz="2800" b="1" dirty="0"/>
              <a:t>불</a:t>
            </a:r>
            <a:r>
              <a:rPr lang="en-US" altLang="ko-KR" sz="2800" b="1" dirty="0"/>
              <a:t>-&gt; </a:t>
            </a:r>
            <a:r>
              <a:rPr lang="ko-KR" altLang="en-US" sz="2800" b="1" dirty="0"/>
              <a:t>문자열 </a:t>
            </a:r>
            <a:endParaRPr lang="en-US" altLang="ko-KR" sz="2800" b="1" dirty="0"/>
          </a:p>
          <a:p>
            <a:r>
              <a:rPr lang="en-US" altLang="ko-KR" sz="2800" b="1" dirty="0"/>
              <a:t>   String(true) -&gt; “true“</a:t>
            </a:r>
          </a:p>
          <a:p>
            <a:r>
              <a:rPr lang="en-US" altLang="ko-KR" sz="2800" b="1" dirty="0"/>
              <a:t>   String(false) -&gt; “false“</a:t>
            </a:r>
          </a:p>
          <a:p>
            <a:endParaRPr lang="en-US" altLang="ko-KR" sz="2800" b="1" dirty="0"/>
          </a:p>
          <a:p>
            <a:r>
              <a:rPr lang="en-US" altLang="ko-KR" sz="2800" b="1" dirty="0"/>
              <a:t># </a:t>
            </a:r>
            <a:r>
              <a:rPr lang="ko-KR" altLang="en-US" sz="2800" b="1" dirty="0"/>
              <a:t>불 </a:t>
            </a:r>
            <a:r>
              <a:rPr lang="en-US" altLang="ko-KR" sz="2800" b="1" dirty="0"/>
              <a:t>-&gt; </a:t>
            </a:r>
            <a:r>
              <a:rPr lang="ko-KR" altLang="en-US" sz="2800" b="1" dirty="0"/>
              <a:t>숫자</a:t>
            </a:r>
            <a:endParaRPr lang="en-US" altLang="ko-KR" sz="2800" b="1" dirty="0"/>
          </a:p>
          <a:p>
            <a:r>
              <a:rPr lang="en-US" altLang="ko-KR" sz="2800" b="1" dirty="0"/>
              <a:t>   Number(true) -&gt; 1</a:t>
            </a:r>
          </a:p>
          <a:p>
            <a:r>
              <a:rPr lang="en-US" altLang="ko-KR" sz="2800" b="1" dirty="0"/>
              <a:t>   Number(false) -&gt; 0</a:t>
            </a:r>
          </a:p>
          <a:p>
            <a:endParaRPr lang="en-US" altLang="ko-KR" sz="2800" b="1" dirty="0"/>
          </a:p>
          <a:p>
            <a:endParaRPr lang="en-US" altLang="ko-KR" sz="2800" b="1" dirty="0"/>
          </a:p>
          <a:p>
            <a:r>
              <a:rPr lang="en-US" altLang="ko-KR" sz="2800" b="1" dirty="0"/>
              <a:t>// 1 -&gt; </a:t>
            </a:r>
            <a:r>
              <a:rPr lang="ko-KR" altLang="en-US" sz="2800" b="1" dirty="0"/>
              <a:t>켜져 있다</a:t>
            </a:r>
            <a:r>
              <a:rPr lang="en-US" altLang="ko-KR" sz="2800" b="1" dirty="0"/>
              <a:t>, </a:t>
            </a:r>
            <a:r>
              <a:rPr lang="ko-KR" altLang="en-US" sz="2800" b="1" dirty="0"/>
              <a:t>존재한다</a:t>
            </a:r>
            <a:endParaRPr lang="en-US" altLang="ko-KR" sz="2800" b="1" dirty="0"/>
          </a:p>
          <a:p>
            <a:r>
              <a:rPr lang="en-US" altLang="ko-KR" sz="2800" b="1" dirty="0"/>
              <a:t>// 0 -&gt; </a:t>
            </a:r>
            <a:r>
              <a:rPr lang="ko-KR" altLang="en-US" sz="2800" b="1" dirty="0"/>
              <a:t>꺼져 있다</a:t>
            </a:r>
            <a:r>
              <a:rPr lang="en-US" altLang="ko-KR" sz="2800" b="1" dirty="0"/>
              <a:t>, </a:t>
            </a:r>
            <a:r>
              <a:rPr lang="ko-KR" altLang="en-US" sz="2800" b="1" dirty="0"/>
              <a:t>존재하지 않는다</a:t>
            </a:r>
            <a:endParaRPr lang="en-US" altLang="ko-KR" sz="2800" b="1" dirty="0"/>
          </a:p>
        </p:txBody>
      </p:sp>
    </p:spTree>
    <p:extLst>
      <p:ext uri="{BB962C8B-B14F-4D97-AF65-F5344CB8AC3E}">
        <p14:creationId xmlns:p14="http://schemas.microsoft.com/office/powerpoint/2010/main" val="4009692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95462" y="280952"/>
            <a:ext cx="9439275" cy="917513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ko-KR" altLang="en-US" sz="3600" b="1" dirty="0"/>
              <a:t>변환</a:t>
            </a:r>
            <a:endParaRPr lang="en-US" altLang="ko-KR" sz="3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137303" y="1333763"/>
            <a:ext cx="10044097" cy="2517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800" b="1" dirty="0"/>
              <a:t># </a:t>
            </a:r>
            <a:r>
              <a:rPr lang="ko-KR" altLang="en-US" sz="2800" b="1" dirty="0"/>
              <a:t>다른 </a:t>
            </a:r>
            <a:r>
              <a:rPr lang="ko-KR" altLang="en-US" sz="2800" b="1" dirty="0" err="1"/>
              <a:t>자료형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-&gt; </a:t>
            </a:r>
            <a:r>
              <a:rPr lang="ko-KR" altLang="en-US" sz="2800" b="1" dirty="0"/>
              <a:t>불</a:t>
            </a:r>
            <a:endParaRPr lang="en-US" altLang="ko-KR" sz="2800" b="1" dirty="0"/>
          </a:p>
          <a:p>
            <a:r>
              <a:rPr lang="en-US" altLang="ko-KR" sz="2800" b="1" dirty="0"/>
              <a:t>   5</a:t>
            </a:r>
            <a:r>
              <a:rPr lang="ko-KR" altLang="en-US" sz="2800" b="1" dirty="0"/>
              <a:t>가지 경우 </a:t>
            </a:r>
            <a:r>
              <a:rPr lang="en-US" altLang="ko-KR" sz="2800" b="1" dirty="0"/>
              <a:t>-&gt; false</a:t>
            </a:r>
          </a:p>
          <a:p>
            <a:r>
              <a:rPr lang="en-US" altLang="ko-KR" sz="2800" b="1" dirty="0"/>
              <a:t>   // 0, </a:t>
            </a:r>
            <a:r>
              <a:rPr lang="en-US" altLang="ko-KR" sz="2800" b="1" dirty="0" err="1"/>
              <a:t>NaN</a:t>
            </a:r>
            <a:r>
              <a:rPr lang="en-US" altLang="ko-KR" sz="2800" b="1" dirty="0"/>
              <a:t>, “”, null, undefined -&gt; false</a:t>
            </a:r>
            <a:r>
              <a:rPr lang="ko-KR" altLang="en-US" sz="2800" b="1" dirty="0"/>
              <a:t>로 변환</a:t>
            </a:r>
            <a:endParaRPr lang="en-US" altLang="ko-KR" sz="2800" b="1" dirty="0"/>
          </a:p>
          <a:p>
            <a:endParaRPr lang="en-US" altLang="ko-KR" sz="2800" b="1" dirty="0"/>
          </a:p>
          <a:p>
            <a:r>
              <a:rPr lang="ko-KR" altLang="en-US" sz="2800" b="1" dirty="0"/>
              <a:t>   이외의 경우 </a:t>
            </a:r>
            <a:r>
              <a:rPr lang="en-US" altLang="ko-KR" sz="2800" b="1" dirty="0"/>
              <a:t>-&gt; true</a:t>
            </a:r>
          </a:p>
        </p:txBody>
      </p:sp>
    </p:spTree>
    <p:extLst>
      <p:ext uri="{BB962C8B-B14F-4D97-AF65-F5344CB8AC3E}">
        <p14:creationId xmlns:p14="http://schemas.microsoft.com/office/powerpoint/2010/main" val="24608826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A8AFD-2230-06C8-3BDB-1DE41583A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제어문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4069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146633" y="1377286"/>
            <a:ext cx="10572616" cy="11021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pPr algn="l"/>
            <a:r>
              <a:rPr lang="ko-KR" altLang="en-US" sz="2400" b="1" dirty="0"/>
              <a:t>프로그램의 흐름을 제어할 수 있도록 도와주는 </a:t>
            </a:r>
            <a:r>
              <a:rPr lang="ko-KR" altLang="en-US" sz="2400" b="1" dirty="0" err="1"/>
              <a:t>실행문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/</a:t>
            </a:r>
          </a:p>
          <a:p>
            <a:r>
              <a:rPr lang="ko-KR" altLang="en-US" sz="2400" b="1" dirty="0" err="1"/>
              <a:t>제어문을</a:t>
            </a:r>
            <a:r>
              <a:rPr lang="ko-KR" altLang="en-US" sz="2400" b="1" dirty="0"/>
              <a:t> 활용하면 목적에 맞게 필요한 조작 가능</a:t>
            </a:r>
            <a:endParaRPr lang="en-US" altLang="ko-KR" sz="2400" b="1" i="0" dirty="0">
              <a:solidFill>
                <a:srgbClr val="37352F"/>
              </a:solidFill>
              <a:effectLst/>
              <a:latin typeface="SFMono-Regula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03483-BC59-4D45-8137-1007D4E73B9E}"/>
              </a:ext>
            </a:extLst>
          </p:cNvPr>
          <p:cNvSpPr txBox="1"/>
          <p:nvPr/>
        </p:nvSpPr>
        <p:spPr>
          <a:xfrm>
            <a:off x="1016004" y="356377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4000" b="1"/>
            </a:lvl1pPr>
          </a:lstStyle>
          <a:p>
            <a:r>
              <a:rPr lang="ko-KR" altLang="en-US" dirty="0" err="1"/>
              <a:t>제어문</a:t>
            </a:r>
            <a:endParaRPr lang="ko-KR" alt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14502" y="2627097"/>
            <a:ext cx="5834546" cy="14715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400" b="1" dirty="0"/>
              <a:t># </a:t>
            </a:r>
            <a:r>
              <a:rPr lang="ko-KR" altLang="ko-KR" sz="2400" b="1" dirty="0" err="1"/>
              <a:t>조건문</a:t>
            </a:r>
            <a:endParaRPr lang="ko-KR" altLang="ko-KR" sz="2400" b="1" dirty="0"/>
          </a:p>
          <a:p>
            <a:r>
              <a:rPr lang="ko-KR" altLang="ko-KR" sz="2400" b="1" dirty="0"/>
              <a:t>조건에 따라 다른 문장을 실행하는 문장</a:t>
            </a:r>
          </a:p>
          <a:p>
            <a:r>
              <a:rPr lang="ko-KR" altLang="ko-KR" sz="2400" b="1" dirty="0" err="1"/>
              <a:t>if</a:t>
            </a:r>
            <a:r>
              <a:rPr lang="ko-KR" altLang="ko-KR" sz="2400" b="1" dirty="0"/>
              <a:t> </a:t>
            </a:r>
            <a:r>
              <a:rPr lang="ko-KR" altLang="ko-KR" sz="2400" b="1" dirty="0" err="1"/>
              <a:t>switch</a:t>
            </a:r>
            <a:r>
              <a:rPr lang="ko-KR" altLang="ko-KR" sz="2400" b="1" dirty="0"/>
              <a:t> 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6186196" y="2628705"/>
            <a:ext cx="5814005" cy="14715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400" b="1" dirty="0"/>
              <a:t># </a:t>
            </a:r>
            <a:r>
              <a:rPr lang="ko-KR" altLang="ko-KR" sz="2400" b="1" dirty="0" err="1"/>
              <a:t>반복문</a:t>
            </a:r>
            <a:endParaRPr lang="ko-KR" altLang="ko-KR" sz="2400" b="1" dirty="0"/>
          </a:p>
          <a:p>
            <a:r>
              <a:rPr lang="ko-KR" altLang="ko-KR" sz="2400" b="1" dirty="0"/>
              <a:t>동일한 코드를 </a:t>
            </a:r>
            <a:r>
              <a:rPr lang="ko-KR" altLang="ko-KR" sz="2400" b="1" dirty="0" err="1"/>
              <a:t>여러번</a:t>
            </a:r>
            <a:r>
              <a:rPr lang="ko-KR" altLang="ko-KR" sz="2400" b="1" dirty="0"/>
              <a:t> 실행시키는 문장</a:t>
            </a:r>
          </a:p>
          <a:p>
            <a:r>
              <a:rPr lang="ko-KR" altLang="ko-KR" sz="2400" b="1" dirty="0" err="1"/>
              <a:t>for</a:t>
            </a:r>
            <a:r>
              <a:rPr lang="ko-KR" altLang="ko-KR" sz="2400" b="1" dirty="0"/>
              <a:t> </a:t>
            </a:r>
            <a:r>
              <a:rPr lang="ko-KR" altLang="ko-KR" sz="2400" b="1" dirty="0" err="1"/>
              <a:t>while</a:t>
            </a:r>
            <a:r>
              <a:rPr lang="ko-KR" altLang="ko-KR" sz="2400" b="1" dirty="0"/>
              <a:t> </a:t>
            </a:r>
            <a:r>
              <a:rPr lang="ko-KR" altLang="ko-KR" sz="2400" b="1" dirty="0" err="1"/>
              <a:t>do~while</a:t>
            </a:r>
            <a:r>
              <a:rPr lang="ko-KR" altLang="ko-KR" sz="2400" b="1" dirty="0"/>
              <a:t> 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184937" y="4316040"/>
            <a:ext cx="10534312" cy="18408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400" b="1" dirty="0"/>
              <a:t># </a:t>
            </a:r>
            <a:r>
              <a:rPr lang="ko-KR" altLang="ko-KR" sz="2400" b="1" dirty="0" err="1"/>
              <a:t>분기문</a:t>
            </a:r>
            <a:endParaRPr lang="ko-KR" altLang="ko-KR" sz="2400" b="1" dirty="0"/>
          </a:p>
          <a:p>
            <a:r>
              <a:rPr lang="ko-KR" altLang="ko-KR" sz="2400" b="1" dirty="0"/>
              <a:t>멈추거나 빠져나가거나 계속 진행하거나 되돌아가거나 하는 동작</a:t>
            </a:r>
          </a:p>
          <a:p>
            <a:r>
              <a:rPr lang="ko-KR" altLang="ko-KR" sz="2400" b="1" dirty="0" err="1"/>
              <a:t>break</a:t>
            </a:r>
            <a:r>
              <a:rPr lang="ko-KR" altLang="ko-KR" sz="2400" b="1" dirty="0"/>
              <a:t> </a:t>
            </a:r>
            <a:r>
              <a:rPr lang="ko-KR" altLang="ko-KR" sz="2400" b="1" dirty="0" err="1"/>
              <a:t>continue</a:t>
            </a:r>
            <a:r>
              <a:rPr lang="ko-KR" altLang="ko-KR" sz="2400" b="1" dirty="0"/>
              <a:t> </a:t>
            </a:r>
          </a:p>
          <a:p>
            <a:endParaRPr lang="ko-KR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9033627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03483-BC59-4D45-8137-1007D4E73B9E}"/>
              </a:ext>
            </a:extLst>
          </p:cNvPr>
          <p:cNvSpPr txBox="1"/>
          <p:nvPr/>
        </p:nvSpPr>
        <p:spPr>
          <a:xfrm>
            <a:off x="1016004" y="356377"/>
            <a:ext cx="33409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4000" b="1"/>
            </a:lvl1pPr>
          </a:lstStyle>
          <a:p>
            <a:r>
              <a:rPr lang="ko-KR" altLang="en-US" dirty="0" err="1"/>
              <a:t>조건문</a:t>
            </a:r>
            <a:r>
              <a:rPr lang="ko-KR" altLang="en-US" dirty="0"/>
              <a:t> </a:t>
            </a:r>
            <a:r>
              <a:rPr lang="en-US" altLang="ko-KR" dirty="0"/>
              <a:t>- If </a:t>
            </a:r>
            <a:r>
              <a:rPr lang="ko-KR" altLang="en-US" dirty="0"/>
              <a:t>문</a:t>
            </a:r>
          </a:p>
        </p:txBody>
      </p:sp>
      <p:sp>
        <p:nvSpPr>
          <p:cNvPr id="2" name="타원형 설명선 1"/>
          <p:cNvSpPr/>
          <p:nvPr/>
        </p:nvSpPr>
        <p:spPr>
          <a:xfrm>
            <a:off x="1343608" y="1744825"/>
            <a:ext cx="4012163" cy="1007706"/>
          </a:xfrm>
          <a:prstGeom prst="wedgeEllipse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>
                <a:solidFill>
                  <a:schemeClr val="tx1"/>
                </a:solidFill>
              </a:rPr>
              <a:t>짝수입니다</a:t>
            </a:r>
          </a:p>
        </p:txBody>
      </p:sp>
      <p:sp>
        <p:nvSpPr>
          <p:cNvPr id="9" name="타원형 설명선 8"/>
          <p:cNvSpPr/>
          <p:nvPr/>
        </p:nvSpPr>
        <p:spPr>
          <a:xfrm>
            <a:off x="6858000" y="1673718"/>
            <a:ext cx="4012163" cy="1007706"/>
          </a:xfrm>
          <a:prstGeom prst="wedgeEllipse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>
                <a:solidFill>
                  <a:schemeClr val="tx1"/>
                </a:solidFill>
              </a:rPr>
              <a:t>홀수입니다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648168" y="3397806"/>
            <a:ext cx="5131939" cy="28257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3200" b="1" dirty="0"/>
              <a:t>if(</a:t>
            </a:r>
            <a:r>
              <a:rPr lang="ko-KR" altLang="en-US" sz="3200" b="1" dirty="0"/>
              <a:t>조건식</a:t>
            </a:r>
            <a:r>
              <a:rPr lang="en-US" altLang="ko-KR" sz="3200" b="1" dirty="0"/>
              <a:t>){</a:t>
            </a:r>
          </a:p>
          <a:p>
            <a:r>
              <a:rPr lang="en-US" altLang="ko-KR" sz="3200" b="1" dirty="0"/>
              <a:t>   alert('</a:t>
            </a:r>
            <a:r>
              <a:rPr lang="ko-KR" altLang="en-US" sz="3200" b="1" dirty="0"/>
              <a:t>짝수입니다</a:t>
            </a:r>
            <a:r>
              <a:rPr lang="en-US" altLang="ko-KR" sz="3200" b="1" dirty="0"/>
              <a:t>');</a:t>
            </a:r>
          </a:p>
          <a:p>
            <a:r>
              <a:rPr lang="en-US" altLang="ko-KR" sz="3200" b="1" dirty="0"/>
              <a:t>}  else {</a:t>
            </a:r>
          </a:p>
          <a:p>
            <a:r>
              <a:rPr lang="en-US" altLang="ko-KR" sz="3200" b="1" dirty="0"/>
              <a:t>   alert(＇</a:t>
            </a:r>
            <a:r>
              <a:rPr lang="ko-KR" altLang="en-US" sz="3200" b="1" dirty="0"/>
              <a:t>홀수입니다</a:t>
            </a:r>
            <a:r>
              <a:rPr lang="en-US" altLang="ko-KR" sz="3200" b="1" dirty="0"/>
              <a:t>');</a:t>
            </a:r>
          </a:p>
          <a:p>
            <a:r>
              <a:rPr lang="en-US" altLang="ko-KR" sz="3200" b="1" dirty="0"/>
              <a:t>}</a:t>
            </a:r>
            <a:endParaRPr lang="ko-KR" altLang="ko-KR" sz="3200" b="1" dirty="0"/>
          </a:p>
        </p:txBody>
      </p:sp>
    </p:spTree>
    <p:extLst>
      <p:ext uri="{BB962C8B-B14F-4D97-AF65-F5344CB8AC3E}">
        <p14:creationId xmlns:p14="http://schemas.microsoft.com/office/powerpoint/2010/main" val="1824571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F03483-BC59-4D45-8137-1007D4E73B9E}"/>
              </a:ext>
            </a:extLst>
          </p:cNvPr>
          <p:cNvSpPr txBox="1"/>
          <p:nvPr/>
        </p:nvSpPr>
        <p:spPr>
          <a:xfrm>
            <a:off x="1172744" y="384407"/>
            <a:ext cx="10470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/>
              <a:t>If</a:t>
            </a:r>
            <a:r>
              <a:rPr lang="ko-KR" altLang="en-US" sz="4000" b="1" dirty="0"/>
              <a:t>문</a:t>
            </a:r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16005" y="1689948"/>
            <a:ext cx="10572616" cy="7944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ko-KR" altLang="en-US" sz="2800" b="1" dirty="0"/>
              <a:t>조건</a:t>
            </a:r>
            <a:r>
              <a:rPr lang="en-US" altLang="ko-KR" sz="2800" b="1" dirty="0"/>
              <a:t>(condition)</a:t>
            </a:r>
            <a:r>
              <a:rPr lang="ko-KR" altLang="en-US" sz="2800" b="1" dirty="0"/>
              <a:t>이 참</a:t>
            </a:r>
            <a:r>
              <a:rPr lang="en-US" altLang="ko-KR" sz="2800" b="1" dirty="0"/>
              <a:t>(true)</a:t>
            </a:r>
            <a:r>
              <a:rPr lang="ko-KR" altLang="en-US" sz="2800" b="1" dirty="0"/>
              <a:t>인 경우 명령문을 실행합니다</a:t>
            </a:r>
            <a:r>
              <a:rPr lang="en-US" altLang="ko-KR" sz="2800" b="1" dirty="0"/>
              <a:t>.</a:t>
            </a:r>
            <a:endParaRPr lang="en-US" altLang="ko-KR" sz="2800" b="1" i="0" dirty="0">
              <a:solidFill>
                <a:srgbClr val="37352F"/>
              </a:solidFill>
              <a:effectLst/>
              <a:latin typeface="SFMono-Regula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6005" y="2699557"/>
            <a:ext cx="10572616" cy="18408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400" b="1" dirty="0"/>
              <a:t>let number = 10;</a:t>
            </a:r>
          </a:p>
          <a:p>
            <a:r>
              <a:rPr lang="en-US" altLang="ko-KR" sz="2400" b="1" dirty="0"/>
              <a:t>if (number &gt; 5) { </a:t>
            </a:r>
          </a:p>
          <a:p>
            <a:r>
              <a:rPr lang="en-US" altLang="ko-KR" sz="2400" b="1" dirty="0"/>
              <a:t>                  // condition</a:t>
            </a:r>
            <a:r>
              <a:rPr lang="ko-KR" altLang="en-US" sz="2400" b="1" dirty="0"/>
              <a:t>이 </a:t>
            </a:r>
            <a:r>
              <a:rPr lang="en-US" altLang="ko-KR" sz="2400" b="1" dirty="0"/>
              <a:t>true </a:t>
            </a:r>
            <a:r>
              <a:rPr lang="ko-KR" altLang="en-US" sz="2400" b="1" dirty="0" err="1"/>
              <a:t>인경우</a:t>
            </a:r>
            <a:r>
              <a:rPr lang="ko-KR" altLang="en-US" sz="2400" b="1" dirty="0"/>
              <a:t> 해당 블록의 명령문 수행</a:t>
            </a:r>
            <a:endParaRPr lang="en-US" altLang="ko-KR" sz="2400" b="1" dirty="0"/>
          </a:p>
          <a:p>
            <a:r>
              <a:rPr lang="en-US" altLang="ko-KR" sz="2400" b="1" dirty="0"/>
              <a:t>                    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}</a:t>
            </a:r>
            <a:endParaRPr lang="en-US" altLang="ko-KR" sz="3200" b="1" i="0" dirty="0">
              <a:solidFill>
                <a:srgbClr val="37352F"/>
              </a:solidFill>
              <a:effectLst/>
              <a:latin typeface="SFMon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42023919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F03483-BC59-4D45-8137-1007D4E73B9E}"/>
              </a:ext>
            </a:extLst>
          </p:cNvPr>
          <p:cNvSpPr txBox="1"/>
          <p:nvPr/>
        </p:nvSpPr>
        <p:spPr>
          <a:xfrm>
            <a:off x="1016004" y="356377"/>
            <a:ext cx="16337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/>
              <a:t>Else</a:t>
            </a:r>
            <a:r>
              <a:rPr lang="ko-KR" altLang="en-US" sz="4000" b="1" dirty="0"/>
              <a:t>문</a:t>
            </a:r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221278" y="1491565"/>
            <a:ext cx="10572616" cy="7944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ko-KR" altLang="en-US" sz="2800" b="1" dirty="0"/>
              <a:t>조건</a:t>
            </a:r>
            <a:r>
              <a:rPr lang="en-US" altLang="ko-KR" sz="2800" b="1" dirty="0"/>
              <a:t>(condition)</a:t>
            </a:r>
            <a:r>
              <a:rPr lang="ko-KR" altLang="en-US" sz="2800" b="1" dirty="0"/>
              <a:t>이 거짓</a:t>
            </a:r>
            <a:r>
              <a:rPr lang="en-US" altLang="ko-KR" sz="2800" b="1" dirty="0"/>
              <a:t>(false)</a:t>
            </a:r>
            <a:r>
              <a:rPr lang="ko-KR" altLang="en-US" sz="2800" b="1" dirty="0" err="1"/>
              <a:t>인경우</a:t>
            </a:r>
            <a:r>
              <a:rPr lang="ko-KR" altLang="en-US" sz="2800" b="1" dirty="0"/>
              <a:t> 명령문을 실행합니다</a:t>
            </a:r>
            <a:r>
              <a:rPr lang="en-US" altLang="ko-KR" sz="2800" b="1" dirty="0"/>
              <a:t>.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312506" y="2817409"/>
            <a:ext cx="10481388" cy="18408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400" b="1" dirty="0"/>
              <a:t>let number = 10;</a:t>
            </a:r>
          </a:p>
          <a:p>
            <a:r>
              <a:rPr lang="en-US" altLang="ko-KR" sz="2400" b="1" dirty="0"/>
              <a:t>if (number &gt; 100) {</a:t>
            </a:r>
          </a:p>
          <a:p>
            <a:r>
              <a:rPr lang="en-US" altLang="ko-KR" sz="2400" b="1" dirty="0"/>
              <a:t>                  // condition</a:t>
            </a:r>
            <a:r>
              <a:rPr lang="ko-KR" altLang="en-US" sz="2400" b="1" dirty="0"/>
              <a:t>이 </a:t>
            </a:r>
            <a:r>
              <a:rPr lang="en-US" altLang="ko-KR" sz="2400" b="1" dirty="0"/>
              <a:t>true </a:t>
            </a:r>
            <a:r>
              <a:rPr lang="ko-KR" altLang="en-US" sz="2400" b="1" dirty="0" err="1"/>
              <a:t>인경우</a:t>
            </a:r>
            <a:r>
              <a:rPr lang="ko-KR" altLang="en-US" sz="2400" b="1" dirty="0"/>
              <a:t> 해당 블록의 명령문 수행</a:t>
            </a:r>
            <a:endParaRPr lang="en-US" altLang="ko-KR" sz="2400" b="1" dirty="0"/>
          </a:p>
          <a:p>
            <a:r>
              <a:rPr lang="ko-KR" altLang="en-US" sz="2400" b="1" dirty="0"/>
              <a:t> </a:t>
            </a:r>
            <a:r>
              <a:rPr lang="en-US" altLang="ko-KR" sz="2400" b="1" dirty="0"/>
              <a:t>} else       { // condition</a:t>
            </a:r>
            <a:r>
              <a:rPr lang="ko-KR" altLang="en-US" sz="2400" b="1" dirty="0"/>
              <a:t>이 </a:t>
            </a:r>
            <a:r>
              <a:rPr lang="en-US" altLang="ko-KR" sz="2400" b="1" dirty="0"/>
              <a:t>false </a:t>
            </a:r>
            <a:r>
              <a:rPr lang="ko-KR" altLang="en-US" sz="2400" b="1" dirty="0" err="1"/>
              <a:t>인경우</a:t>
            </a:r>
            <a:r>
              <a:rPr lang="ko-KR" altLang="en-US" sz="2400" b="1" dirty="0"/>
              <a:t> 해당 블록의 명령문 수행</a:t>
            </a:r>
            <a:r>
              <a:rPr lang="en-US" altLang="ko-KR" sz="2400" b="1" dirty="0"/>
              <a:t>}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624045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F03483-BC59-4D45-8137-1007D4E73B9E}"/>
              </a:ext>
            </a:extLst>
          </p:cNvPr>
          <p:cNvSpPr txBox="1"/>
          <p:nvPr/>
        </p:nvSpPr>
        <p:spPr>
          <a:xfrm>
            <a:off x="995462" y="339316"/>
            <a:ext cx="16401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/>
              <a:t>else if</a:t>
            </a:r>
            <a:endParaRPr lang="ko-KR" altLang="en-US" sz="4000" b="1" dirty="0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81319" y="1595703"/>
            <a:ext cx="10572616" cy="7944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>
            <a:defPPr>
              <a:defRPr lang="ko-KR"/>
            </a:defPPr>
            <a:lvl1pPr>
              <a:defRPr sz="2800" b="1"/>
            </a:lvl1pPr>
          </a:lstStyle>
          <a:p>
            <a:r>
              <a:rPr lang="en-US" altLang="ko-KR" dirty="0"/>
              <a:t>else if (</a:t>
            </a:r>
            <a:r>
              <a:rPr lang="ko-KR" altLang="en-US" dirty="0" err="1"/>
              <a:t>다중조건</a:t>
            </a:r>
            <a:r>
              <a:rPr lang="en-US" altLang="ko-KR" dirty="0"/>
              <a:t>)</a:t>
            </a:r>
            <a:r>
              <a:rPr lang="ko-KR" altLang="en-US" dirty="0"/>
              <a:t>을 사용하여</a:t>
            </a:r>
            <a:r>
              <a:rPr lang="en-US" altLang="ko-KR" dirty="0"/>
              <a:t>, </a:t>
            </a:r>
            <a:r>
              <a:rPr lang="ko-KR" altLang="en-US" dirty="0" err="1"/>
              <a:t>여러개의</a:t>
            </a:r>
            <a:r>
              <a:rPr lang="ko-KR" altLang="en-US" dirty="0"/>
              <a:t> 조건을 확인할 수 있다</a:t>
            </a:r>
            <a:r>
              <a:rPr lang="en-US" altLang="ko-KR" dirty="0"/>
              <a:t>.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392855" y="2934201"/>
            <a:ext cx="9949543" cy="22101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000" b="1" dirty="0"/>
              <a:t>if (condition1) {</a:t>
            </a:r>
          </a:p>
          <a:p>
            <a:r>
              <a:rPr lang="en-US" altLang="ko-KR" sz="2000" b="1" dirty="0"/>
              <a:t>   // condition1</a:t>
            </a:r>
            <a:r>
              <a:rPr lang="ko-KR" altLang="en-US" sz="2000" b="1" dirty="0"/>
              <a:t>이 </a:t>
            </a:r>
            <a:r>
              <a:rPr lang="en-US" altLang="ko-KR" sz="2000" b="1" dirty="0"/>
              <a:t>true</a:t>
            </a:r>
            <a:r>
              <a:rPr lang="ko-KR" altLang="en-US" sz="2000" b="1" dirty="0"/>
              <a:t>일 경우 해당 블록 명령문 수행</a:t>
            </a:r>
            <a:endParaRPr lang="en-US" altLang="ko-KR" sz="2000" b="1" dirty="0"/>
          </a:p>
          <a:p>
            <a:r>
              <a:rPr lang="en-US" altLang="ko-KR" sz="2000" b="1" dirty="0"/>
              <a:t>} else if (condition2) { // condition2</a:t>
            </a:r>
            <a:r>
              <a:rPr lang="ko-KR" altLang="en-US" sz="2000" b="1" dirty="0"/>
              <a:t>이 </a:t>
            </a:r>
            <a:r>
              <a:rPr lang="en-US" altLang="ko-KR" sz="2000" b="1" dirty="0"/>
              <a:t>true</a:t>
            </a:r>
            <a:r>
              <a:rPr lang="ko-KR" altLang="en-US" sz="2000" b="1" dirty="0"/>
              <a:t>일 경우 해당 블록 명령문 수행</a:t>
            </a:r>
            <a:endParaRPr lang="en-US" altLang="ko-KR" sz="2000" b="1" dirty="0"/>
          </a:p>
          <a:p>
            <a:r>
              <a:rPr lang="en-US" altLang="ko-KR" sz="2000" b="1" dirty="0"/>
              <a:t>} else if (condition3) { // condition3</a:t>
            </a:r>
            <a:r>
              <a:rPr lang="ko-KR" altLang="en-US" sz="2000" b="1" dirty="0"/>
              <a:t>이 </a:t>
            </a:r>
            <a:r>
              <a:rPr lang="en-US" altLang="ko-KR" sz="2000" b="1" dirty="0"/>
              <a:t>true</a:t>
            </a:r>
            <a:r>
              <a:rPr lang="ko-KR" altLang="en-US" sz="2000" b="1" dirty="0"/>
              <a:t>일 경우 해당 블록 명령문 수행 </a:t>
            </a:r>
            <a:endParaRPr lang="en-US" altLang="ko-KR" sz="2000" b="1" dirty="0"/>
          </a:p>
          <a:p>
            <a:r>
              <a:rPr lang="en-US" altLang="ko-KR" sz="2000" b="1" dirty="0"/>
              <a:t>} else if (condition4) { // condition4</a:t>
            </a:r>
            <a:r>
              <a:rPr lang="ko-KR" altLang="en-US" sz="2000" b="1" dirty="0"/>
              <a:t>이 </a:t>
            </a:r>
            <a:r>
              <a:rPr lang="en-US" altLang="ko-KR" sz="2000" b="1" dirty="0"/>
              <a:t>true</a:t>
            </a:r>
            <a:r>
              <a:rPr lang="ko-KR" altLang="en-US" sz="2000" b="1" dirty="0"/>
              <a:t>일 경우 해당 블록 명령문 수행 </a:t>
            </a:r>
            <a:endParaRPr lang="en-US" altLang="ko-KR" sz="2000" b="1" dirty="0"/>
          </a:p>
          <a:p>
            <a:r>
              <a:rPr lang="en-US" altLang="ko-KR" sz="2000" b="1" dirty="0"/>
              <a:t>} else { // </a:t>
            </a:r>
            <a:r>
              <a:rPr lang="ko-KR" altLang="en-US" sz="2000" b="1" dirty="0"/>
              <a:t>위 모든 조건이 </a:t>
            </a:r>
            <a:r>
              <a:rPr lang="en-US" altLang="ko-KR" sz="2000" b="1" dirty="0"/>
              <a:t>false</a:t>
            </a:r>
            <a:r>
              <a:rPr lang="ko-KR" altLang="en-US" sz="2000" b="1" dirty="0"/>
              <a:t>일 경우 해당 명령문 수행 </a:t>
            </a:r>
            <a:r>
              <a:rPr lang="en-US" altLang="ko-KR" sz="2000" b="1" dirty="0"/>
              <a:t>}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28550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357912" y="1811147"/>
            <a:ext cx="5406783" cy="22101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>
            <a:defPPr>
              <a:defRPr lang="ko-KR"/>
            </a:defPPr>
            <a:lvl1pPr>
              <a:defRPr sz="4000" b="1"/>
            </a:lvl1pPr>
          </a:lstStyle>
          <a:p>
            <a:r>
              <a:rPr lang="en-US" altLang="ko-KR" dirty="0"/>
              <a:t>&lt;script&gt;</a:t>
            </a:r>
          </a:p>
          <a:p>
            <a:endParaRPr lang="en-US" altLang="ko-KR" dirty="0"/>
          </a:p>
          <a:p>
            <a:r>
              <a:rPr lang="en-US" altLang="ko-KR" dirty="0"/>
              <a:t>&lt;/script&gt;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34FF3E-35E4-5F45-A3F6-9DD8868AC47A}"/>
              </a:ext>
            </a:extLst>
          </p:cNvPr>
          <p:cNvSpPr txBox="1"/>
          <p:nvPr/>
        </p:nvSpPr>
        <p:spPr>
          <a:xfrm>
            <a:off x="1016004" y="473229"/>
            <a:ext cx="9713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800" b="1" dirty="0">
                <a:solidFill>
                  <a:srgbClr val="0070C0"/>
                </a:solidFill>
              </a:rPr>
              <a:t>실습 파일 </a:t>
            </a:r>
            <a:r>
              <a:rPr kumimoji="1" lang="en-US" altLang="ko-KR" sz="2800" b="1" dirty="0" smtClean="0">
                <a:solidFill>
                  <a:srgbClr val="0070C0"/>
                </a:solidFill>
              </a:rPr>
              <a:t>if_else.js</a:t>
            </a:r>
            <a:endParaRPr kumimoji="1" lang="ko-KR" altLang="en-US" sz="2800" b="1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48165" y="1811147"/>
            <a:ext cx="3456684" cy="9790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4000" b="1" dirty="0"/>
              <a:t>‘use strict‘;</a:t>
            </a:r>
          </a:p>
        </p:txBody>
      </p:sp>
    </p:spTree>
    <p:extLst>
      <p:ext uri="{BB962C8B-B14F-4D97-AF65-F5344CB8AC3E}">
        <p14:creationId xmlns:p14="http://schemas.microsoft.com/office/powerpoint/2010/main" val="40521867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34FF3E-35E4-5F45-A3F6-9DD8868AC47A}"/>
              </a:ext>
            </a:extLst>
          </p:cNvPr>
          <p:cNvSpPr txBox="1"/>
          <p:nvPr/>
        </p:nvSpPr>
        <p:spPr>
          <a:xfrm>
            <a:off x="1016004" y="473229"/>
            <a:ext cx="6998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800" b="1" dirty="0">
                <a:solidFill>
                  <a:srgbClr val="0070C0"/>
                </a:solidFill>
              </a:rPr>
              <a:t>실습 파일 </a:t>
            </a:r>
            <a:r>
              <a:rPr kumimoji="1" lang="en-US" altLang="ko-KR" sz="2800" b="1" dirty="0">
                <a:solidFill>
                  <a:srgbClr val="0070C0"/>
                </a:solidFill>
              </a:rPr>
              <a:t>:</a:t>
            </a:r>
            <a:r>
              <a:rPr kumimoji="1" lang="ko-KR" altLang="en-US" sz="2800" b="1" dirty="0">
                <a:solidFill>
                  <a:srgbClr val="0070C0"/>
                </a:solidFill>
              </a:rPr>
              <a:t> </a:t>
            </a:r>
            <a:r>
              <a:rPr kumimoji="1" lang="en-US" altLang="ko-KR" sz="2800" b="1" dirty="0">
                <a:solidFill>
                  <a:srgbClr val="0070C0"/>
                </a:solidFill>
              </a:rPr>
              <a:t>if_else.js</a:t>
            </a:r>
            <a:endParaRPr kumimoji="1" lang="ko-KR" altLang="en-US" sz="2800" b="1" dirty="0">
              <a:solidFill>
                <a:srgbClr val="0070C0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704390" y="1721413"/>
            <a:ext cx="9371045" cy="4056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4000" b="1" dirty="0"/>
              <a:t>let condition = true;</a:t>
            </a:r>
          </a:p>
          <a:p>
            <a:endParaRPr lang="en-US" altLang="ko-KR" sz="4000" b="1" dirty="0"/>
          </a:p>
          <a:p>
            <a:endParaRPr lang="en-US" altLang="ko-KR" sz="4000" b="1" dirty="0"/>
          </a:p>
          <a:p>
            <a:endParaRPr lang="en-US" altLang="ko-KR" sz="4000" b="1" dirty="0"/>
          </a:p>
          <a:p>
            <a:endParaRPr lang="en-US" altLang="ko-KR" sz="4000" b="1" dirty="0"/>
          </a:p>
          <a:p>
            <a:endParaRPr lang="en-US" altLang="ko-KR" sz="4000" b="1" dirty="0"/>
          </a:p>
        </p:txBody>
      </p:sp>
    </p:spTree>
    <p:extLst>
      <p:ext uri="{BB962C8B-B14F-4D97-AF65-F5344CB8AC3E}">
        <p14:creationId xmlns:p14="http://schemas.microsoft.com/office/powerpoint/2010/main" val="8544210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34FF3E-35E4-5F45-A3F6-9DD8868AC47A}"/>
              </a:ext>
            </a:extLst>
          </p:cNvPr>
          <p:cNvSpPr txBox="1"/>
          <p:nvPr/>
        </p:nvSpPr>
        <p:spPr>
          <a:xfrm>
            <a:off x="1016004" y="473229"/>
            <a:ext cx="6998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800" b="1" dirty="0">
                <a:solidFill>
                  <a:srgbClr val="0070C0"/>
                </a:solidFill>
              </a:rPr>
              <a:t>실습 파일 </a:t>
            </a:r>
            <a:r>
              <a:rPr kumimoji="1" lang="en-US" altLang="ko-KR" sz="2800" b="1" dirty="0">
                <a:solidFill>
                  <a:srgbClr val="0070C0"/>
                </a:solidFill>
              </a:rPr>
              <a:t>: if_else.js</a:t>
            </a:r>
            <a:endParaRPr kumimoji="1" lang="ko-KR" altLang="en-US" sz="2800" b="1" dirty="0">
              <a:solidFill>
                <a:srgbClr val="0070C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779036" y="1572600"/>
            <a:ext cx="9212425" cy="467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4000" b="1" dirty="0"/>
              <a:t>let number=10;</a:t>
            </a:r>
          </a:p>
          <a:p>
            <a:endParaRPr lang="en-US" altLang="ko-KR" sz="4000" b="1" dirty="0"/>
          </a:p>
          <a:p>
            <a:endParaRPr lang="en-US" altLang="ko-KR" sz="4000" b="1" dirty="0"/>
          </a:p>
          <a:p>
            <a:endParaRPr lang="en-US" altLang="ko-KR" sz="4000" b="1" dirty="0"/>
          </a:p>
          <a:p>
            <a:endParaRPr lang="en-US" altLang="ko-KR" sz="4000" b="1" dirty="0"/>
          </a:p>
          <a:p>
            <a:endParaRPr lang="en-US" altLang="ko-KR" sz="4000" b="1" dirty="0"/>
          </a:p>
          <a:p>
            <a:endParaRPr lang="en-US" altLang="ko-KR" sz="4000" b="1" dirty="0"/>
          </a:p>
        </p:txBody>
      </p:sp>
    </p:spTree>
    <p:extLst>
      <p:ext uri="{BB962C8B-B14F-4D97-AF65-F5344CB8AC3E}">
        <p14:creationId xmlns:p14="http://schemas.microsoft.com/office/powerpoint/2010/main" val="11106117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34FF3E-35E4-5F45-A3F6-9DD8868AC47A}"/>
              </a:ext>
            </a:extLst>
          </p:cNvPr>
          <p:cNvSpPr txBox="1"/>
          <p:nvPr/>
        </p:nvSpPr>
        <p:spPr>
          <a:xfrm>
            <a:off x="1016004" y="473229"/>
            <a:ext cx="6998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800" b="1" dirty="0">
                <a:solidFill>
                  <a:srgbClr val="0070C0"/>
                </a:solidFill>
              </a:rPr>
              <a:t>실습 파일 </a:t>
            </a:r>
            <a:r>
              <a:rPr kumimoji="1" lang="en-US" altLang="ko-KR" sz="2800" b="1" dirty="0">
                <a:solidFill>
                  <a:srgbClr val="0070C0"/>
                </a:solidFill>
              </a:rPr>
              <a:t>:</a:t>
            </a:r>
            <a:r>
              <a:rPr kumimoji="1" lang="ko-KR" altLang="en-US" sz="2800" b="1" dirty="0">
                <a:solidFill>
                  <a:srgbClr val="0070C0"/>
                </a:solidFill>
              </a:rPr>
              <a:t> </a:t>
            </a:r>
            <a:r>
              <a:rPr kumimoji="1" lang="en-US" altLang="ko-KR" sz="2800" b="1" dirty="0" smtClean="0">
                <a:solidFill>
                  <a:srgbClr val="0070C0"/>
                </a:solidFill>
              </a:rPr>
              <a:t>5week_if.html</a:t>
            </a:r>
            <a:endParaRPr kumimoji="1" lang="ko-KR" altLang="en-US" sz="2800" b="1" dirty="0">
              <a:solidFill>
                <a:srgbClr val="0070C0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915885" y="1364541"/>
            <a:ext cx="8049209" cy="467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000" b="1" dirty="0"/>
              <a:t>let score = prompt('</a:t>
            </a:r>
            <a:r>
              <a:rPr lang="ko-KR" altLang="en-US" sz="2000" b="1" dirty="0" err="1"/>
              <a:t>수학점수</a:t>
            </a:r>
            <a:r>
              <a:rPr lang="ko-KR" altLang="en-US" sz="2000" b="1" dirty="0"/>
              <a:t> 입력해주세요</a:t>
            </a:r>
            <a:r>
              <a:rPr lang="en-US" altLang="ko-KR" sz="2000" b="1" dirty="0"/>
              <a:t>');</a:t>
            </a:r>
          </a:p>
          <a:p>
            <a:r>
              <a:rPr lang="en-US" altLang="ko-KR" sz="2000" b="1" dirty="0"/>
              <a:t>console.log('</a:t>
            </a:r>
            <a:r>
              <a:rPr lang="en-US" altLang="ko-KR" sz="2000" b="1" dirty="0" err="1"/>
              <a:t>score:',score</a:t>
            </a:r>
            <a:r>
              <a:rPr lang="en-US" altLang="ko-KR" sz="2000" b="1" dirty="0"/>
              <a:t>);</a:t>
            </a:r>
          </a:p>
          <a:p>
            <a:r>
              <a:rPr lang="en-US" altLang="ko-KR" sz="2000" b="1" dirty="0"/>
              <a:t>//90</a:t>
            </a:r>
            <a:r>
              <a:rPr lang="ko-KR" altLang="en-US" sz="2000" b="1" dirty="0"/>
              <a:t>점 이상 등급은 </a:t>
            </a:r>
            <a:r>
              <a:rPr lang="en-US" altLang="ko-KR" sz="2000" b="1" dirty="0"/>
              <a:t>A //80</a:t>
            </a:r>
            <a:r>
              <a:rPr lang="ko-KR" altLang="en-US" sz="2000" b="1" dirty="0"/>
              <a:t>점 이상 등급은 </a:t>
            </a:r>
            <a:r>
              <a:rPr lang="en-US" altLang="ko-KR" sz="2000" b="1" dirty="0"/>
              <a:t>B</a:t>
            </a:r>
          </a:p>
          <a:p>
            <a:r>
              <a:rPr lang="en-US" altLang="ko-KR" sz="2000" b="1" dirty="0"/>
              <a:t>//70</a:t>
            </a:r>
            <a:r>
              <a:rPr lang="ko-KR" altLang="en-US" sz="2000" b="1" dirty="0"/>
              <a:t>점 이상 등급은 </a:t>
            </a:r>
            <a:r>
              <a:rPr lang="en-US" altLang="ko-KR" sz="2000" b="1" dirty="0"/>
              <a:t>C //60</a:t>
            </a:r>
            <a:r>
              <a:rPr lang="ko-KR" altLang="en-US" sz="2000" b="1" dirty="0"/>
              <a:t>점 이상 등급은 </a:t>
            </a:r>
            <a:r>
              <a:rPr lang="en-US" altLang="ko-KR" sz="2000" b="1" dirty="0"/>
              <a:t>D //</a:t>
            </a:r>
            <a:r>
              <a:rPr lang="ko-KR" altLang="en-US" sz="2000" b="1" dirty="0"/>
              <a:t>나머지 등급은 </a:t>
            </a:r>
            <a:r>
              <a:rPr lang="en-US" altLang="ko-KR" sz="2000" b="1" dirty="0"/>
              <a:t>F</a:t>
            </a:r>
          </a:p>
          <a:p>
            <a:endParaRPr lang="en-US" altLang="ko-KR" sz="2000" b="1" dirty="0"/>
          </a:p>
          <a:p>
            <a:endParaRPr lang="en-US" altLang="ko-KR" sz="2000" b="1" dirty="0"/>
          </a:p>
          <a:p>
            <a:endParaRPr lang="en-US" altLang="ko-KR" sz="2000" b="1" dirty="0"/>
          </a:p>
          <a:p>
            <a:endParaRPr lang="en-US" altLang="ko-KR" sz="2000" b="1" dirty="0"/>
          </a:p>
          <a:p>
            <a:endParaRPr lang="en-US" altLang="ko-KR" sz="2000" b="1" dirty="0"/>
          </a:p>
          <a:p>
            <a:endParaRPr lang="en-US" altLang="ko-KR" sz="2000" b="1" dirty="0"/>
          </a:p>
          <a:p>
            <a:endParaRPr lang="en-US" altLang="ko-KR" sz="2000" b="1" dirty="0"/>
          </a:p>
          <a:p>
            <a:endParaRPr lang="en-US" altLang="ko-KR" sz="2000" b="1" dirty="0"/>
          </a:p>
          <a:p>
            <a:endParaRPr lang="en-US" altLang="ko-KR" sz="2000" b="1" dirty="0"/>
          </a:p>
          <a:p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19727811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34FF3E-35E4-5F45-A3F6-9DD8868AC47A}"/>
              </a:ext>
            </a:extLst>
          </p:cNvPr>
          <p:cNvSpPr txBox="1"/>
          <p:nvPr/>
        </p:nvSpPr>
        <p:spPr>
          <a:xfrm>
            <a:off x="1103606" y="357461"/>
            <a:ext cx="31117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4000" b="1"/>
            </a:lvl1pPr>
          </a:lstStyle>
          <a:p>
            <a:r>
              <a:rPr lang="ko-KR" altLang="en-US" dirty="0"/>
              <a:t>거짓 같은 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2735" y="1604863"/>
            <a:ext cx="8472195" cy="4303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>
            <a:defPPr>
              <a:defRPr lang="ko-KR"/>
            </a:defPPr>
            <a:lvl1pPr>
              <a:defRPr sz="4000" b="1"/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ko-KR" sz="3200" dirty="0" err="1"/>
              <a:t>false</a:t>
            </a:r>
            <a:r>
              <a:rPr lang="ko-KR" altLang="ko-KR" sz="3200" dirty="0"/>
              <a:t> - 거짓 </a:t>
            </a:r>
            <a:endParaRPr lang="en-US" altLang="ko-K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ko-KR" sz="3200" dirty="0"/>
              <a:t>0 - 숫자 </a:t>
            </a:r>
            <a:r>
              <a:rPr lang="ko-KR" altLang="ko-KR" sz="3200" dirty="0" err="1"/>
              <a:t>zero</a:t>
            </a:r>
            <a:r>
              <a:rPr lang="ko-KR" altLang="ko-KR" sz="32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ko-KR" sz="3200" dirty="0"/>
              <a:t>-0 - 음수 </a:t>
            </a:r>
            <a:r>
              <a:rPr lang="ko-KR" altLang="ko-KR" sz="3200" dirty="0" err="1"/>
              <a:t>zero</a:t>
            </a:r>
            <a:r>
              <a:rPr lang="ko-KR" altLang="ko-KR" sz="32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ko-KR" sz="3200" dirty="0"/>
              <a:t>0n - </a:t>
            </a:r>
            <a:r>
              <a:rPr lang="ko-KR" altLang="ko-KR" sz="3200" dirty="0" err="1"/>
              <a:t>BigInt</a:t>
            </a:r>
            <a:r>
              <a:rPr lang="ko-KR" altLang="ko-KR" sz="3200" dirty="0"/>
              <a:t> </a:t>
            </a:r>
            <a:r>
              <a:rPr lang="ko-KR" altLang="ko-KR" sz="3200" dirty="0" err="1"/>
              <a:t>zero</a:t>
            </a:r>
            <a:r>
              <a:rPr lang="ko-KR" altLang="ko-KR" sz="32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ko-KR" sz="3200" dirty="0"/>
              <a:t>"" - 빈 문자열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ko-KR" sz="3200" dirty="0" err="1"/>
              <a:t>null</a:t>
            </a:r>
            <a:r>
              <a:rPr lang="ko-KR" altLang="ko-KR" sz="3200" dirty="0"/>
              <a:t> - 아무런 값도 없음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ko-KR" sz="3200" dirty="0" err="1"/>
              <a:t>undefined</a:t>
            </a:r>
            <a:r>
              <a:rPr lang="ko-KR" altLang="ko-KR" sz="3200" dirty="0"/>
              <a:t> - 할당 되지 않은 </a:t>
            </a:r>
            <a:r>
              <a:rPr lang="ko-KR" altLang="ko-KR" sz="3200" dirty="0" err="1"/>
              <a:t>빈값</a:t>
            </a:r>
            <a:r>
              <a:rPr lang="ko-KR" altLang="ko-KR" sz="32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ko-KR" sz="3200" dirty="0" err="1"/>
              <a:t>NaN</a:t>
            </a:r>
            <a:r>
              <a:rPr lang="ko-KR" altLang="ko-KR" sz="3200" dirty="0"/>
              <a:t> - 숫자가 아님 </a:t>
            </a:r>
          </a:p>
        </p:txBody>
      </p:sp>
    </p:spTree>
    <p:extLst>
      <p:ext uri="{BB962C8B-B14F-4D97-AF65-F5344CB8AC3E}">
        <p14:creationId xmlns:p14="http://schemas.microsoft.com/office/powerpoint/2010/main" val="39153505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34FF3E-35E4-5F45-A3F6-9DD8868AC47A}"/>
              </a:ext>
            </a:extLst>
          </p:cNvPr>
          <p:cNvSpPr txBox="1"/>
          <p:nvPr/>
        </p:nvSpPr>
        <p:spPr>
          <a:xfrm>
            <a:off x="1159589" y="402205"/>
            <a:ext cx="24684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4000" b="1"/>
            </a:lvl1pPr>
          </a:lstStyle>
          <a:p>
            <a:r>
              <a:rPr lang="en-US" altLang="ko-KR" dirty="0"/>
              <a:t>Switch </a:t>
            </a:r>
            <a:r>
              <a:rPr lang="ko-KR" altLang="en-US" dirty="0"/>
              <a:t>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7529" y="1351022"/>
            <a:ext cx="9915848" cy="13484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>
            <a:defPPr>
              <a:defRPr lang="ko-KR"/>
            </a:defPPr>
            <a:lvl1pPr marL="457200" indent="-457200">
              <a:buFont typeface="Arial" panose="020B0604020202020204" pitchFamily="34" charset="0"/>
              <a:buChar char="•"/>
              <a:defRPr sz="3200" b="1"/>
            </a:lvl1pPr>
          </a:lstStyle>
          <a:p>
            <a:pPr marL="0" indent="0">
              <a:buNone/>
            </a:pPr>
            <a:r>
              <a:rPr lang="ko-KR" altLang="en-US" dirty="0"/>
              <a:t>표현식의 값을 </a:t>
            </a:r>
            <a:r>
              <a:rPr lang="en-US" altLang="ko-KR" dirty="0"/>
              <a:t>case</a:t>
            </a:r>
            <a:r>
              <a:rPr lang="ko-KR" altLang="en-US" dirty="0"/>
              <a:t>절에 일치할 경우에</a:t>
            </a:r>
            <a:r>
              <a:rPr lang="en-US" altLang="ko-KR" dirty="0"/>
              <a:t>, </a:t>
            </a:r>
            <a:r>
              <a:rPr lang="ko-KR" altLang="en-US" dirty="0"/>
              <a:t>해당 </a:t>
            </a:r>
            <a:r>
              <a:rPr lang="en-US" altLang="ko-KR" dirty="0"/>
              <a:t>case</a:t>
            </a:r>
            <a:r>
              <a:rPr lang="ko-KR" altLang="en-US" dirty="0"/>
              <a:t>와 관련된 명령문을 수행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397529" y="2813999"/>
            <a:ext cx="8362802" cy="8559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ko-KR" sz="3200" b="1" dirty="0" err="1"/>
              <a:t>switch문은</a:t>
            </a:r>
            <a:r>
              <a:rPr lang="ko-KR" altLang="ko-KR" sz="3200" b="1" dirty="0"/>
              <a:t> 하나 이상의 </a:t>
            </a:r>
            <a:r>
              <a:rPr lang="ko-KR" altLang="ko-KR" sz="3200" b="1" dirty="0" err="1"/>
              <a:t>case문으로</a:t>
            </a:r>
            <a:r>
              <a:rPr lang="ko-KR" altLang="ko-KR" sz="3200" b="1" dirty="0"/>
              <a:t> 구성 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397528" y="3854623"/>
            <a:ext cx="10140879" cy="23332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b="1" dirty="0" smtClean="0"/>
              <a:t>s</a:t>
            </a:r>
            <a:r>
              <a:rPr lang="ko-KR" altLang="ko-KR" sz="3200" b="1" dirty="0" err="1" smtClean="0"/>
              <a:t>witch</a:t>
            </a:r>
            <a:r>
              <a:rPr lang="en-US" altLang="ko-KR" sz="3200" b="1" dirty="0" smtClean="0"/>
              <a:t> = </a:t>
            </a:r>
            <a:r>
              <a:rPr lang="ko-KR" altLang="en-US" sz="3200" b="1" dirty="0" err="1" smtClean="0"/>
              <a:t>여러값</a:t>
            </a:r>
            <a:r>
              <a:rPr lang="en-US" altLang="ko-KR" sz="3200" b="1" dirty="0" smtClean="0"/>
              <a:t> </a:t>
            </a:r>
            <a:r>
              <a:rPr lang="ko-KR" altLang="en-US" sz="3200" b="1" dirty="0" smtClean="0"/>
              <a:t>중 하나를 선택할 때 사용</a:t>
            </a:r>
            <a:endParaRPr lang="en-US" altLang="ko-KR" sz="32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b="1" dirty="0" smtClean="0"/>
              <a:t>case = </a:t>
            </a:r>
            <a:r>
              <a:rPr lang="ko-KR" altLang="en-US" sz="3200" b="1" dirty="0" smtClean="0"/>
              <a:t>선택할 값</a:t>
            </a:r>
            <a:endParaRPr lang="en-US" altLang="ko-KR" sz="32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b="1" dirty="0" smtClean="0"/>
              <a:t>break = </a:t>
            </a:r>
            <a:r>
              <a:rPr lang="en-US" altLang="ko-KR" sz="3200" b="1" dirty="0" err="1" smtClean="0"/>
              <a:t>switc</a:t>
            </a:r>
            <a:r>
              <a:rPr lang="ko-KR" altLang="en-US" sz="3200" b="1" dirty="0" smtClean="0"/>
              <a:t>문 탈출</a:t>
            </a:r>
            <a:endParaRPr lang="en-US" altLang="ko-KR" sz="32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b="1" dirty="0" smtClean="0"/>
              <a:t>default = </a:t>
            </a:r>
            <a:r>
              <a:rPr lang="ko-KR" altLang="en-US" sz="3200" b="1" dirty="0" smtClean="0"/>
              <a:t>어느 </a:t>
            </a:r>
            <a:r>
              <a:rPr lang="en-US" altLang="ko-KR" sz="3200" b="1" dirty="0" smtClean="0"/>
              <a:t>case </a:t>
            </a:r>
            <a:r>
              <a:rPr lang="ko-KR" altLang="en-US" sz="3200" b="1" dirty="0" smtClean="0"/>
              <a:t>에도 해당하지 </a:t>
            </a:r>
            <a:r>
              <a:rPr lang="ko-KR" altLang="en-US" sz="3200" b="1" dirty="0" err="1" smtClean="0"/>
              <a:t>않을</a:t>
            </a:r>
            <a:r>
              <a:rPr lang="ko-KR" altLang="en-US" sz="3200" b="1" dirty="0" err="1"/>
              <a:t>때</a:t>
            </a:r>
            <a:endParaRPr lang="ko-KR" altLang="ko-KR" sz="3200" b="1" dirty="0"/>
          </a:p>
        </p:txBody>
      </p:sp>
    </p:spTree>
    <p:extLst>
      <p:ext uri="{BB962C8B-B14F-4D97-AF65-F5344CB8AC3E}">
        <p14:creationId xmlns:p14="http://schemas.microsoft.com/office/powerpoint/2010/main" val="36377922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218242" y="1301375"/>
            <a:ext cx="9921354" cy="52879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000" b="1" dirty="0" err="1"/>
              <a:t>const</a:t>
            </a:r>
            <a:r>
              <a:rPr lang="en-US" altLang="ko-KR" sz="2000" b="1" dirty="0"/>
              <a:t> subject = </a:t>
            </a:r>
            <a:r>
              <a:rPr lang="en-US" altLang="ko-KR" sz="2000" b="1" dirty="0" smtClean="0"/>
              <a:t>‘</a:t>
            </a:r>
            <a:r>
              <a:rPr lang="ko-KR" altLang="en-US" sz="2000" b="1" dirty="0" smtClean="0"/>
              <a:t>값</a:t>
            </a:r>
            <a:r>
              <a:rPr lang="en-US" altLang="ko-KR" sz="2000" b="1" dirty="0" smtClean="0"/>
              <a:t>’;</a:t>
            </a:r>
            <a:endParaRPr lang="en-US" altLang="ko-KR" sz="2000" b="1" dirty="0"/>
          </a:p>
          <a:p>
            <a:r>
              <a:rPr lang="en-US" altLang="ko-KR" sz="2000" b="1" dirty="0"/>
              <a:t>switch (subject) {</a:t>
            </a:r>
          </a:p>
          <a:p>
            <a:r>
              <a:rPr lang="en-US" altLang="ko-KR" sz="2000" b="1" dirty="0"/>
              <a:t>   case  </a:t>
            </a:r>
            <a:r>
              <a:rPr lang="ko-KR" altLang="en-US" sz="2000" b="1" dirty="0" err="1" smtClean="0"/>
              <a:t>비교값</a:t>
            </a:r>
            <a:r>
              <a:rPr lang="en-US" altLang="ko-KR" sz="2000" b="1" dirty="0" smtClean="0"/>
              <a:t>1</a:t>
            </a:r>
            <a:r>
              <a:rPr lang="en-US" altLang="ko-KR" sz="2000" b="1" dirty="0" smtClean="0"/>
              <a:t>:</a:t>
            </a:r>
          </a:p>
          <a:p>
            <a:r>
              <a:rPr lang="en-US" altLang="ko-KR" sz="2000" b="1" dirty="0" smtClean="0"/>
              <a:t>	</a:t>
            </a:r>
            <a:r>
              <a:rPr lang="ko-KR" altLang="en-US" sz="2000" b="1" dirty="0" err="1" smtClean="0"/>
              <a:t>실행문</a:t>
            </a:r>
            <a:r>
              <a:rPr lang="en-US" altLang="ko-KR" sz="2000" b="1" dirty="0" smtClean="0"/>
              <a:t>;</a:t>
            </a:r>
          </a:p>
          <a:p>
            <a:r>
              <a:rPr lang="en-US" altLang="ko-KR" sz="2000" b="1" dirty="0"/>
              <a:t> </a:t>
            </a:r>
            <a:r>
              <a:rPr lang="en-US" altLang="ko-KR" sz="2000" b="1" dirty="0" smtClean="0"/>
              <a:t>          break;</a:t>
            </a:r>
          </a:p>
          <a:p>
            <a:endParaRPr lang="en-US" altLang="ko-KR" sz="2000" b="1" dirty="0"/>
          </a:p>
          <a:p>
            <a:r>
              <a:rPr lang="en-US" altLang="ko-KR" sz="2000" b="1" dirty="0"/>
              <a:t>   </a:t>
            </a:r>
            <a:r>
              <a:rPr lang="en-US" altLang="ko-KR" sz="2000" b="1" dirty="0"/>
              <a:t>case  </a:t>
            </a:r>
            <a:r>
              <a:rPr lang="ko-KR" altLang="en-US" sz="2000" b="1" dirty="0" err="1" smtClean="0"/>
              <a:t>비교값</a:t>
            </a:r>
            <a:r>
              <a:rPr lang="en-US" altLang="ko-KR" sz="2000" b="1" dirty="0" smtClean="0"/>
              <a:t>2:</a:t>
            </a:r>
            <a:endParaRPr lang="en-US" altLang="ko-KR" sz="2000" b="1" dirty="0"/>
          </a:p>
          <a:p>
            <a:r>
              <a:rPr lang="en-US" altLang="ko-KR" sz="2000" b="1" dirty="0"/>
              <a:t>	</a:t>
            </a:r>
            <a:r>
              <a:rPr lang="ko-KR" altLang="en-US" sz="2000" b="1" dirty="0" err="1"/>
              <a:t>실행문</a:t>
            </a:r>
            <a:r>
              <a:rPr lang="en-US" altLang="ko-KR" sz="2000" b="1" dirty="0"/>
              <a:t>;</a:t>
            </a:r>
          </a:p>
          <a:p>
            <a:r>
              <a:rPr lang="en-US" altLang="ko-KR" sz="2000" b="1" dirty="0"/>
              <a:t>           break;</a:t>
            </a:r>
          </a:p>
          <a:p>
            <a:r>
              <a:rPr lang="en-US" altLang="ko-KR" sz="2000" b="1" dirty="0" smtClean="0"/>
              <a:t> </a:t>
            </a:r>
            <a:r>
              <a:rPr lang="en-US" altLang="ko-KR" sz="2000" b="1" dirty="0"/>
              <a:t> </a:t>
            </a:r>
            <a:r>
              <a:rPr lang="en-US" altLang="ko-KR" sz="2000" b="1" dirty="0" smtClean="0"/>
              <a:t> </a:t>
            </a:r>
          </a:p>
          <a:p>
            <a:r>
              <a:rPr lang="en-US" altLang="ko-KR" sz="2000" b="1" dirty="0"/>
              <a:t> </a:t>
            </a:r>
            <a:r>
              <a:rPr lang="en-US" altLang="ko-KR" sz="2000" b="1" dirty="0" smtClean="0"/>
              <a:t> case  </a:t>
            </a:r>
            <a:r>
              <a:rPr lang="ko-KR" altLang="en-US" sz="2000" b="1" dirty="0" err="1" smtClean="0"/>
              <a:t>비교값</a:t>
            </a:r>
            <a:r>
              <a:rPr lang="en-US" altLang="ko-KR" sz="2000" b="1" dirty="0" smtClean="0"/>
              <a:t>3:</a:t>
            </a:r>
            <a:endParaRPr lang="en-US" altLang="ko-KR" sz="2000" b="1" dirty="0"/>
          </a:p>
          <a:p>
            <a:r>
              <a:rPr lang="en-US" altLang="ko-KR" sz="2000" b="1" dirty="0"/>
              <a:t>	</a:t>
            </a:r>
            <a:r>
              <a:rPr lang="ko-KR" altLang="en-US" sz="2000" b="1" dirty="0" err="1"/>
              <a:t>실행문</a:t>
            </a:r>
            <a:r>
              <a:rPr lang="en-US" altLang="ko-KR" sz="2000" b="1" dirty="0"/>
              <a:t>;</a:t>
            </a:r>
          </a:p>
          <a:p>
            <a:r>
              <a:rPr lang="en-US" altLang="ko-KR" sz="2000" b="1" dirty="0"/>
              <a:t>           break;</a:t>
            </a:r>
          </a:p>
          <a:p>
            <a:r>
              <a:rPr lang="en-US" altLang="ko-KR" sz="2000" b="1" dirty="0" smtClean="0"/>
              <a:t>   </a:t>
            </a:r>
          </a:p>
          <a:p>
            <a:r>
              <a:rPr lang="en-US" altLang="ko-KR" sz="2000" b="1" dirty="0" smtClean="0"/>
              <a:t>  default:</a:t>
            </a:r>
          </a:p>
          <a:p>
            <a:r>
              <a:rPr lang="ko-KR" altLang="en-US" sz="2000" b="1" dirty="0" smtClean="0"/>
              <a:t>          </a:t>
            </a:r>
            <a:r>
              <a:rPr lang="ko-KR" altLang="en-US" sz="2000" b="1" dirty="0" err="1" smtClean="0"/>
              <a:t>실행문</a:t>
            </a:r>
            <a:r>
              <a:rPr lang="en-US" altLang="ko-KR" sz="2000" b="1" dirty="0" smtClean="0"/>
              <a:t>;</a:t>
            </a:r>
            <a:r>
              <a:rPr lang="en-US" altLang="ko-KR" sz="2000" b="1" dirty="0"/>
              <a:t>   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34FF3E-35E4-5F45-A3F6-9DD8868AC47A}"/>
              </a:ext>
            </a:extLst>
          </p:cNvPr>
          <p:cNvSpPr txBox="1"/>
          <p:nvPr/>
        </p:nvSpPr>
        <p:spPr>
          <a:xfrm>
            <a:off x="995462" y="427864"/>
            <a:ext cx="6998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800" b="1" dirty="0">
                <a:solidFill>
                  <a:srgbClr val="0070C0"/>
                </a:solidFill>
              </a:rPr>
              <a:t>실습 파일 </a:t>
            </a:r>
            <a:r>
              <a:rPr kumimoji="1" lang="en-US" altLang="ko-KR" sz="2800" b="1" dirty="0">
                <a:solidFill>
                  <a:srgbClr val="0070C0"/>
                </a:solidFill>
              </a:rPr>
              <a:t>:</a:t>
            </a:r>
            <a:r>
              <a:rPr kumimoji="1" lang="ko-KR" altLang="en-US" sz="2800" b="1" dirty="0">
                <a:solidFill>
                  <a:srgbClr val="0070C0"/>
                </a:solidFill>
              </a:rPr>
              <a:t> </a:t>
            </a:r>
            <a:r>
              <a:rPr kumimoji="1" lang="en-US" altLang="ko-KR" sz="2800" b="1" dirty="0">
                <a:solidFill>
                  <a:srgbClr val="0070C0"/>
                </a:solidFill>
              </a:rPr>
              <a:t>switch.js</a:t>
            </a:r>
            <a:endParaRPr kumimoji="1" lang="ko-KR" altLang="en-US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2043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1592424" y="1518429"/>
            <a:ext cx="9660293" cy="4364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000" b="1" dirty="0" smtClean="0"/>
              <a:t>let day = 3;</a:t>
            </a:r>
          </a:p>
          <a:p>
            <a:r>
              <a:rPr lang="en-US" altLang="ko-KR" sz="2000" b="1" dirty="0" smtClean="0"/>
              <a:t>switch (day) {</a:t>
            </a:r>
          </a:p>
          <a:p>
            <a:r>
              <a:rPr lang="en-US" altLang="ko-KR" sz="2000" b="1" dirty="0" smtClean="0"/>
              <a:t>	case 1:</a:t>
            </a:r>
          </a:p>
          <a:p>
            <a:r>
              <a:rPr lang="en-US" altLang="ko-KR" sz="2000" b="1" dirty="0" smtClean="0"/>
              <a:t>	console.log(“</a:t>
            </a:r>
            <a:r>
              <a:rPr lang="ko-KR" altLang="en-US" sz="2000" b="1" dirty="0" smtClean="0"/>
              <a:t>월요일</a:t>
            </a:r>
            <a:r>
              <a:rPr lang="en-US" altLang="ko-KR" sz="2000" b="1" dirty="0" smtClean="0"/>
              <a:t>“);</a:t>
            </a:r>
          </a:p>
          <a:p>
            <a:r>
              <a:rPr lang="en-US" altLang="ko-KR" sz="2000" b="1" dirty="0" smtClean="0"/>
              <a:t>	break;</a:t>
            </a:r>
          </a:p>
          <a:p>
            <a:endParaRPr lang="en-US" altLang="ko-KR" sz="2000" b="1" dirty="0"/>
          </a:p>
          <a:p>
            <a:endParaRPr lang="en-US" altLang="ko-KR" sz="2000" b="1" dirty="0" smtClean="0"/>
          </a:p>
          <a:p>
            <a:endParaRPr lang="en-US" altLang="ko-KR" sz="2000" b="1" dirty="0"/>
          </a:p>
          <a:p>
            <a:r>
              <a:rPr lang="en-US" altLang="ko-KR" sz="2000" b="1" dirty="0" smtClean="0"/>
              <a:t>	…..</a:t>
            </a:r>
          </a:p>
          <a:p>
            <a:endParaRPr lang="en-US" altLang="ko-KR" sz="2000" b="1" dirty="0"/>
          </a:p>
          <a:p>
            <a:r>
              <a:rPr lang="en-US" altLang="ko-KR" sz="2000" b="1" dirty="0"/>
              <a:t>	</a:t>
            </a:r>
            <a:r>
              <a:rPr lang="en-US" altLang="ko-KR" sz="2000" b="1" dirty="0" smtClean="0"/>
              <a:t>default:</a:t>
            </a:r>
          </a:p>
          <a:p>
            <a:r>
              <a:rPr lang="en-US" altLang="ko-KR" sz="2000" b="1" dirty="0" smtClean="0"/>
              <a:t>	console.log(“</a:t>
            </a:r>
            <a:r>
              <a:rPr lang="ko-KR" altLang="en-US" sz="2000" b="1" dirty="0" smtClean="0"/>
              <a:t>주말</a:t>
            </a:r>
            <a:r>
              <a:rPr lang="en-US" altLang="ko-KR" sz="2000" b="1" dirty="0" smtClean="0"/>
              <a:t>“);</a:t>
            </a:r>
          </a:p>
          <a:p>
            <a:r>
              <a:rPr lang="en-US" altLang="ko-KR" sz="2000" b="1" dirty="0" smtClean="0"/>
              <a:t>}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512259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16004" y="1617150"/>
            <a:ext cx="10572616" cy="33181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>
            <a:defPPr>
              <a:defRPr lang="ko-KR"/>
            </a:defPPr>
            <a:lvl1pPr>
              <a:defRPr sz="2000" b="1"/>
            </a:lvl1pPr>
          </a:lstStyle>
          <a:p>
            <a:r>
              <a:rPr lang="ko-KR" altLang="en-US" sz="2400" dirty="0"/>
              <a:t>수학 점수를 입력 받아서 출력하는 </a:t>
            </a:r>
            <a:r>
              <a:rPr lang="en-US" altLang="ko-KR" sz="2400" dirty="0"/>
              <a:t>switch </a:t>
            </a:r>
            <a:r>
              <a:rPr lang="ko-KR" altLang="en-US" sz="2400" dirty="0"/>
              <a:t>프로그램</a:t>
            </a:r>
            <a:endParaRPr lang="en-US" altLang="ko-KR" sz="2400" dirty="0"/>
          </a:p>
          <a:p>
            <a:r>
              <a:rPr lang="en-US" altLang="ko-KR" sz="2400" dirty="0"/>
              <a:t>90</a:t>
            </a:r>
            <a:r>
              <a:rPr lang="ko-KR" altLang="en-US" sz="2400" dirty="0"/>
              <a:t>점 이상이면 </a:t>
            </a:r>
            <a:r>
              <a:rPr lang="en-US" altLang="ko-KR" sz="2400" dirty="0"/>
              <a:t>A</a:t>
            </a:r>
            <a:r>
              <a:rPr lang="ko-KR" altLang="en-US" sz="2400" dirty="0"/>
              <a:t>학점입니다</a:t>
            </a:r>
            <a:r>
              <a:rPr lang="en-US" altLang="ko-KR" sz="2400" dirty="0"/>
              <a:t>.</a:t>
            </a:r>
          </a:p>
          <a:p>
            <a:r>
              <a:rPr lang="en-US" altLang="ko-KR" sz="2400" dirty="0"/>
              <a:t>80</a:t>
            </a:r>
            <a:r>
              <a:rPr lang="ko-KR" altLang="en-US" sz="2400" dirty="0"/>
              <a:t>점 이상이면 </a:t>
            </a:r>
            <a:r>
              <a:rPr lang="en-US" altLang="ko-KR" sz="2400" dirty="0"/>
              <a:t>B</a:t>
            </a:r>
            <a:r>
              <a:rPr lang="ko-KR" altLang="en-US" sz="2400" dirty="0"/>
              <a:t>학점입니다</a:t>
            </a:r>
            <a:r>
              <a:rPr lang="en-US" altLang="ko-KR" sz="2400" dirty="0"/>
              <a:t>.</a:t>
            </a:r>
          </a:p>
          <a:p>
            <a:r>
              <a:rPr lang="en-US" altLang="ko-KR" sz="2400" dirty="0"/>
              <a:t>70</a:t>
            </a:r>
            <a:r>
              <a:rPr lang="ko-KR" altLang="en-US" sz="2400" dirty="0"/>
              <a:t>점 이상이면 </a:t>
            </a:r>
            <a:r>
              <a:rPr lang="en-US" altLang="ko-KR" sz="2400" dirty="0"/>
              <a:t>C</a:t>
            </a:r>
            <a:r>
              <a:rPr lang="ko-KR" altLang="en-US" sz="2400" dirty="0"/>
              <a:t>학점입니다</a:t>
            </a:r>
            <a:r>
              <a:rPr lang="en-US" altLang="ko-KR" sz="2400" dirty="0"/>
              <a:t>.</a:t>
            </a:r>
          </a:p>
          <a:p>
            <a:r>
              <a:rPr lang="en-US" altLang="ko-KR" sz="2400" dirty="0"/>
              <a:t>60</a:t>
            </a:r>
            <a:r>
              <a:rPr lang="ko-KR" altLang="en-US" sz="2400" dirty="0"/>
              <a:t>점 이상이면 </a:t>
            </a:r>
            <a:r>
              <a:rPr lang="en-US" altLang="ko-KR" sz="2400" dirty="0"/>
              <a:t>D</a:t>
            </a:r>
            <a:r>
              <a:rPr lang="ko-KR" altLang="en-US" sz="2400" dirty="0"/>
              <a:t>학점입니다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 err="1"/>
              <a:t>그외는</a:t>
            </a:r>
            <a:r>
              <a:rPr lang="ko-KR" altLang="en-US" sz="2400" dirty="0"/>
              <a:t> </a:t>
            </a:r>
            <a:r>
              <a:rPr lang="en-US" altLang="ko-KR" sz="2400" dirty="0"/>
              <a:t>F</a:t>
            </a:r>
            <a:r>
              <a:rPr lang="ko-KR" altLang="en-US" sz="2400" dirty="0"/>
              <a:t>학점입니다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r>
              <a:rPr lang="ko-KR" altLang="en-US" sz="2400" dirty="0"/>
              <a:t>주의사항 </a:t>
            </a:r>
            <a:r>
              <a:rPr lang="en-US" altLang="ko-KR" sz="2400" dirty="0" err="1"/>
              <a:t>Math.floor</a:t>
            </a:r>
            <a:r>
              <a:rPr lang="en-US" altLang="ko-KR" sz="2400" dirty="0"/>
              <a:t>() </a:t>
            </a:r>
            <a:r>
              <a:rPr lang="ko-KR" altLang="en-US" sz="2400" dirty="0"/>
              <a:t>함수 사용</a:t>
            </a:r>
            <a:endParaRPr lang="en-US" altLang="ko-K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34FF3E-35E4-5F45-A3F6-9DD8868AC47A}"/>
              </a:ext>
            </a:extLst>
          </p:cNvPr>
          <p:cNvSpPr txBox="1"/>
          <p:nvPr/>
        </p:nvSpPr>
        <p:spPr>
          <a:xfrm>
            <a:off x="1016004" y="473229"/>
            <a:ext cx="6998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800" b="1" dirty="0">
                <a:solidFill>
                  <a:srgbClr val="0070C0"/>
                </a:solidFill>
              </a:rPr>
              <a:t>실습 파일 </a:t>
            </a:r>
            <a:r>
              <a:rPr kumimoji="1" lang="en-US" altLang="ko-KR" sz="2800" b="1" dirty="0">
                <a:solidFill>
                  <a:srgbClr val="0070C0"/>
                </a:solidFill>
              </a:rPr>
              <a:t>:</a:t>
            </a:r>
            <a:r>
              <a:rPr kumimoji="1" lang="ko-KR" altLang="en-US" sz="2800" b="1" dirty="0">
                <a:solidFill>
                  <a:srgbClr val="0070C0"/>
                </a:solidFill>
              </a:rPr>
              <a:t> </a:t>
            </a:r>
            <a:r>
              <a:rPr kumimoji="1" lang="en-US" altLang="ko-KR" sz="2800" b="1" dirty="0" smtClean="0">
                <a:solidFill>
                  <a:srgbClr val="0070C0"/>
                </a:solidFill>
              </a:rPr>
              <a:t>5week_switch.html</a:t>
            </a:r>
            <a:endParaRPr kumimoji="1" lang="ko-KR" altLang="en-US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38338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1766079" y="1438577"/>
            <a:ext cx="879617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/>
              <a:t>  let score=(prompt('</a:t>
            </a:r>
            <a:r>
              <a:rPr lang="ko-KR" altLang="en-US" sz="2800" b="1" dirty="0" err="1"/>
              <a:t>수학점수를</a:t>
            </a:r>
            <a:r>
              <a:rPr lang="ko-KR" altLang="en-US" sz="2800" b="1" dirty="0"/>
              <a:t> 입력하세요</a:t>
            </a:r>
            <a:r>
              <a:rPr lang="en-US" altLang="ko-KR" sz="2800" b="1" dirty="0"/>
              <a:t>');</a:t>
            </a:r>
          </a:p>
          <a:p>
            <a:r>
              <a:rPr lang="en-US" altLang="ko-KR" sz="2800" b="1" dirty="0"/>
              <a:t>        console.log(score);</a:t>
            </a:r>
          </a:p>
          <a:p>
            <a:r>
              <a:rPr lang="en-US" altLang="ko-KR" sz="2800" b="1" dirty="0"/>
              <a:t>        number=score;</a:t>
            </a:r>
          </a:p>
          <a:p>
            <a:r>
              <a:rPr lang="en-US" altLang="ko-KR" sz="2800" b="1" dirty="0"/>
              <a:t>        console.log(number);</a:t>
            </a:r>
          </a:p>
          <a:p>
            <a:r>
              <a:rPr lang="en-US" altLang="ko-KR" sz="2800" b="1" dirty="0"/>
              <a:t>        </a:t>
            </a:r>
          </a:p>
          <a:p>
            <a:r>
              <a:rPr lang="en-US" altLang="ko-KR" sz="2800" b="1" dirty="0"/>
              <a:t>        switch(number){</a:t>
            </a:r>
          </a:p>
          <a:p>
            <a:r>
              <a:rPr lang="en-US" altLang="ko-KR" sz="2800" b="1" dirty="0"/>
              <a:t>              case 100:</a:t>
            </a:r>
          </a:p>
          <a:p>
            <a:r>
              <a:rPr lang="en-US" altLang="ko-KR" sz="2800" b="1" dirty="0"/>
              <a:t>              case 99:</a:t>
            </a:r>
          </a:p>
          <a:p>
            <a:r>
              <a:rPr lang="en-US" altLang="ko-KR" sz="2800" b="1" dirty="0"/>
              <a:t>              console.log('A</a:t>
            </a:r>
            <a:r>
              <a:rPr lang="ko-KR" altLang="en-US" sz="2800" b="1" dirty="0"/>
              <a:t>학점 입니다</a:t>
            </a:r>
            <a:r>
              <a:rPr lang="en-US" altLang="ko-KR" sz="2800" b="1" dirty="0"/>
              <a:t>.');</a:t>
            </a:r>
          </a:p>
          <a:p>
            <a:r>
              <a:rPr lang="en-US" altLang="ko-KR" sz="2800" b="1" dirty="0"/>
              <a:t>              break;</a:t>
            </a:r>
          </a:p>
          <a:p>
            <a:r>
              <a:rPr lang="en-US" altLang="ko-KR" sz="2800" b="1" dirty="0"/>
              <a:t>        };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34FF3E-35E4-5F45-A3F6-9DD8868AC47A}"/>
              </a:ext>
            </a:extLst>
          </p:cNvPr>
          <p:cNvSpPr txBox="1"/>
          <p:nvPr/>
        </p:nvSpPr>
        <p:spPr>
          <a:xfrm>
            <a:off x="1016004" y="473229"/>
            <a:ext cx="6998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800" b="1" dirty="0">
                <a:solidFill>
                  <a:srgbClr val="0070C0"/>
                </a:solidFill>
              </a:rPr>
              <a:t>실습 파일 </a:t>
            </a:r>
            <a:r>
              <a:rPr kumimoji="1" lang="en-US" altLang="ko-KR" sz="2800" b="1" dirty="0">
                <a:solidFill>
                  <a:srgbClr val="0070C0"/>
                </a:solidFill>
              </a:rPr>
              <a:t>:</a:t>
            </a:r>
            <a:r>
              <a:rPr kumimoji="1" lang="ko-KR" altLang="en-US" sz="2800" b="1" dirty="0">
                <a:solidFill>
                  <a:srgbClr val="0070C0"/>
                </a:solidFill>
              </a:rPr>
              <a:t> </a:t>
            </a:r>
            <a:r>
              <a:rPr kumimoji="1" lang="en-US" altLang="ko-KR" sz="2800" b="1" dirty="0" smtClean="0">
                <a:solidFill>
                  <a:srgbClr val="0070C0"/>
                </a:solidFill>
              </a:rPr>
              <a:t>5week_switch.html</a:t>
            </a:r>
            <a:endParaRPr kumimoji="1" lang="ko-KR" altLang="en-US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133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809440" y="1407799"/>
            <a:ext cx="9265996" cy="452431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2400" b="1" dirty="0"/>
              <a:t>&lt;script&gt;</a:t>
            </a:r>
          </a:p>
          <a:p>
            <a:r>
              <a:rPr lang="en-US" altLang="ko-KR" sz="2400" b="1" dirty="0"/>
              <a:t>        </a:t>
            </a:r>
          </a:p>
          <a:p>
            <a:endParaRPr lang="en-US" altLang="ko-KR" sz="2400" b="1" dirty="0"/>
          </a:p>
          <a:p>
            <a:endParaRPr lang="en-US" altLang="ko-KR" sz="2400" b="1" dirty="0"/>
          </a:p>
          <a:p>
            <a:endParaRPr lang="en-US" altLang="ko-KR" sz="2400" b="1" dirty="0"/>
          </a:p>
          <a:p>
            <a:endParaRPr lang="en-US" altLang="ko-KR" sz="2400" b="1" dirty="0"/>
          </a:p>
          <a:p>
            <a:endParaRPr lang="en-US" altLang="ko-KR" sz="2400" b="1" dirty="0"/>
          </a:p>
          <a:p>
            <a:endParaRPr lang="en-US" altLang="ko-KR" sz="2400" b="1" dirty="0"/>
          </a:p>
          <a:p>
            <a:endParaRPr lang="en-US" altLang="ko-KR" sz="2400" b="1" dirty="0"/>
          </a:p>
          <a:p>
            <a:endParaRPr lang="en-US" altLang="ko-KR" sz="2400" b="1" dirty="0"/>
          </a:p>
          <a:p>
            <a:endParaRPr lang="en-US" altLang="ko-KR" sz="2400" b="1" dirty="0"/>
          </a:p>
          <a:p>
            <a:r>
              <a:rPr lang="en-US" altLang="ko-KR" sz="2400" b="1" dirty="0"/>
              <a:t>&lt;/script&gt;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34FF3E-35E4-5F45-A3F6-9DD8868AC47A}"/>
              </a:ext>
            </a:extLst>
          </p:cNvPr>
          <p:cNvSpPr txBox="1"/>
          <p:nvPr/>
        </p:nvSpPr>
        <p:spPr>
          <a:xfrm>
            <a:off x="1016005" y="475829"/>
            <a:ext cx="6998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800" b="1" dirty="0">
                <a:solidFill>
                  <a:srgbClr val="0070C0"/>
                </a:solidFill>
              </a:rPr>
              <a:t>실습 파일 </a:t>
            </a:r>
            <a:r>
              <a:rPr kumimoji="1" lang="en-US" altLang="ko-KR" sz="2800" b="1" dirty="0">
                <a:solidFill>
                  <a:srgbClr val="0070C0"/>
                </a:solidFill>
              </a:rPr>
              <a:t>:</a:t>
            </a:r>
            <a:r>
              <a:rPr kumimoji="1" lang="ko-KR" altLang="en-US" sz="2800" b="1" dirty="0">
                <a:solidFill>
                  <a:srgbClr val="0070C0"/>
                </a:solidFill>
              </a:rPr>
              <a:t> </a:t>
            </a:r>
            <a:r>
              <a:rPr kumimoji="1" lang="en-US" altLang="ko-KR" sz="2800" b="1" dirty="0" smtClean="0">
                <a:solidFill>
                  <a:srgbClr val="0070C0"/>
                </a:solidFill>
              </a:rPr>
              <a:t>5week_switch.html</a:t>
            </a:r>
            <a:endParaRPr kumimoji="1" lang="ko-KR" altLang="en-US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5543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03483-BC59-4D45-8137-1007D4E73B9E}"/>
              </a:ext>
            </a:extLst>
          </p:cNvPr>
          <p:cNvSpPr txBox="1"/>
          <p:nvPr/>
        </p:nvSpPr>
        <p:spPr>
          <a:xfrm>
            <a:off x="1016005" y="309872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4000" b="1"/>
            </a:lvl1pPr>
          </a:lstStyle>
          <a:p>
            <a:r>
              <a:rPr lang="ko-KR" altLang="en-US" dirty="0" err="1"/>
              <a:t>반복문</a:t>
            </a:r>
            <a:endParaRPr lang="ko-KR" altLang="en-US" dirty="0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536437" y="1587667"/>
            <a:ext cx="8783220" cy="2764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pPr algn="ctr"/>
            <a:r>
              <a:rPr lang="en-US" altLang="ko-KR" sz="4000" b="1" dirty="0"/>
              <a:t>for</a:t>
            </a:r>
            <a:r>
              <a:rPr lang="en-US" altLang="ko-KR" sz="6000" b="1" dirty="0"/>
              <a:t> / </a:t>
            </a:r>
            <a:r>
              <a:rPr lang="en-US" altLang="ko-KR" sz="4000" b="1" dirty="0"/>
              <a:t>while</a:t>
            </a:r>
            <a:r>
              <a:rPr lang="en-US" altLang="ko-KR" sz="6000" b="1" dirty="0"/>
              <a:t> / </a:t>
            </a:r>
            <a:r>
              <a:rPr lang="en-US" altLang="ko-KR" sz="4000" b="1" dirty="0" err="1"/>
              <a:t>do~while</a:t>
            </a:r>
            <a:endParaRPr lang="ko-KR" altLang="ko-KR" sz="6000" b="1" dirty="0"/>
          </a:p>
          <a:p>
            <a:endParaRPr lang="en-US" altLang="ko-KR" sz="3200" dirty="0"/>
          </a:p>
          <a:p>
            <a:pPr algn="ctr"/>
            <a:endParaRPr lang="en-US" altLang="ko-KR" sz="3200" b="1" dirty="0"/>
          </a:p>
          <a:p>
            <a:pPr algn="ctr"/>
            <a:r>
              <a:rPr lang="ko-KR" altLang="en-US" sz="3200" b="1" dirty="0"/>
              <a:t>동일한 코드를 </a:t>
            </a:r>
            <a:r>
              <a:rPr lang="ko-KR" altLang="en-US" sz="3200" b="1" dirty="0" err="1"/>
              <a:t>여러번</a:t>
            </a:r>
            <a:r>
              <a:rPr lang="ko-KR" altLang="en-US" sz="3200" b="1" dirty="0"/>
              <a:t> 실행시키는 문장</a:t>
            </a:r>
            <a:endParaRPr lang="en-US" altLang="ko-KR" sz="3200" b="1" dirty="0"/>
          </a:p>
        </p:txBody>
      </p:sp>
    </p:spTree>
    <p:extLst>
      <p:ext uri="{BB962C8B-B14F-4D97-AF65-F5344CB8AC3E}">
        <p14:creationId xmlns:p14="http://schemas.microsoft.com/office/powerpoint/2010/main" val="28753488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03483-BC59-4D45-8137-1007D4E73B9E}"/>
              </a:ext>
            </a:extLst>
          </p:cNvPr>
          <p:cNvSpPr txBox="1"/>
          <p:nvPr/>
        </p:nvSpPr>
        <p:spPr>
          <a:xfrm>
            <a:off x="1155963" y="306875"/>
            <a:ext cx="15888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4000" b="1"/>
            </a:lvl1pPr>
          </a:lstStyle>
          <a:p>
            <a:r>
              <a:rPr lang="en-US" altLang="ko-KR" dirty="0"/>
              <a:t>for </a:t>
            </a:r>
            <a:r>
              <a:rPr lang="ko-KR" altLang="en-US" dirty="0"/>
              <a:t>문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751041" y="1736580"/>
            <a:ext cx="8783220" cy="13484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3200" b="1" dirty="0"/>
              <a:t>for</a:t>
            </a:r>
            <a:r>
              <a:rPr lang="ko-KR" altLang="en-US" sz="3200" b="1" dirty="0"/>
              <a:t> 루프는 </a:t>
            </a:r>
            <a:r>
              <a:rPr lang="ko-KR" altLang="en-US" sz="3200" b="1" dirty="0">
                <a:solidFill>
                  <a:srgbClr val="FF0000"/>
                </a:solidFill>
              </a:rPr>
              <a:t>정해진 숫자만큼 반복 </a:t>
            </a:r>
            <a:r>
              <a:rPr lang="ko-KR" altLang="en-US" sz="3200" b="1" dirty="0"/>
              <a:t>하려</a:t>
            </a:r>
            <a:r>
              <a:rPr lang="ko-KR" altLang="en-US" sz="3200" b="1" dirty="0">
                <a:solidFill>
                  <a:srgbClr val="FF0000"/>
                </a:solidFill>
              </a:rPr>
              <a:t> </a:t>
            </a:r>
            <a:r>
              <a:rPr lang="ko-KR" altLang="en-US" sz="3200" b="1" dirty="0"/>
              <a:t>할 때 사용합니다</a:t>
            </a:r>
            <a:r>
              <a:rPr lang="en-US" altLang="ko-KR" sz="3200" b="1" dirty="0"/>
              <a:t>.</a:t>
            </a:r>
            <a:endParaRPr lang="ko-KR" altLang="ko-KR" sz="3200" b="1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224902" y="3519289"/>
            <a:ext cx="9835498" cy="8559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3200" b="1" dirty="0"/>
              <a:t>for</a:t>
            </a:r>
            <a:r>
              <a:rPr lang="ko-KR" altLang="en-US" sz="3200" b="1" dirty="0"/>
              <a:t> 문의 괄호는 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초기화</a:t>
            </a:r>
            <a:r>
              <a:rPr lang="en-US" altLang="ko-KR" sz="3200" b="1" dirty="0"/>
              <a:t>;</a:t>
            </a:r>
            <a:r>
              <a:rPr lang="ko-KR" altLang="en-US" sz="3200" b="1" dirty="0"/>
              <a:t> 조건식</a:t>
            </a:r>
            <a:r>
              <a:rPr lang="en-US" altLang="ko-KR" sz="3200" b="1" dirty="0"/>
              <a:t>;</a:t>
            </a:r>
            <a:r>
              <a:rPr lang="ko-KR" altLang="en-US" sz="3200" b="1" dirty="0"/>
              <a:t> 표현식</a:t>
            </a:r>
            <a:r>
              <a:rPr lang="en-US" altLang="ko-KR" sz="3200" b="1" dirty="0"/>
              <a:t>)</a:t>
            </a:r>
            <a:r>
              <a:rPr lang="ko-KR" altLang="en-US" sz="3200" b="1" dirty="0"/>
              <a:t> 으로 구성</a:t>
            </a:r>
            <a:endParaRPr lang="ko-KR" altLang="ko-KR" sz="3200" b="1" dirty="0"/>
          </a:p>
        </p:txBody>
      </p:sp>
    </p:spTree>
    <p:extLst>
      <p:ext uri="{BB962C8B-B14F-4D97-AF65-F5344CB8AC3E}">
        <p14:creationId xmlns:p14="http://schemas.microsoft.com/office/powerpoint/2010/main" val="22345356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03483-BC59-4D45-8137-1007D4E73B9E}"/>
              </a:ext>
            </a:extLst>
          </p:cNvPr>
          <p:cNvSpPr txBox="1"/>
          <p:nvPr/>
        </p:nvSpPr>
        <p:spPr>
          <a:xfrm>
            <a:off x="1016004" y="356377"/>
            <a:ext cx="15888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4000" b="1"/>
            </a:lvl1pPr>
          </a:lstStyle>
          <a:p>
            <a:r>
              <a:rPr lang="en-US" altLang="ko-KR" dirty="0"/>
              <a:t>for </a:t>
            </a:r>
            <a:r>
              <a:rPr lang="ko-KR" altLang="en-US" dirty="0"/>
              <a:t>문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281262" y="3592676"/>
            <a:ext cx="5984036" cy="2517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ko-KR" altLang="en-US" sz="2000" b="1" dirty="0" err="1"/>
              <a:t>실행순서</a:t>
            </a:r>
            <a:r>
              <a:rPr lang="ko-KR" altLang="en-US" sz="2000" b="1" dirty="0"/>
              <a:t> </a:t>
            </a:r>
            <a:endParaRPr lang="en-US" altLang="ko-KR" sz="2000" b="1" dirty="0"/>
          </a:p>
          <a:p>
            <a:r>
              <a:rPr lang="en-US" altLang="ko-KR" sz="2000" b="1" dirty="0"/>
              <a:t>1)let </a:t>
            </a:r>
            <a:r>
              <a:rPr lang="en-US" altLang="ko-KR" sz="2000" b="1" dirty="0" err="1"/>
              <a:t>i</a:t>
            </a:r>
            <a:r>
              <a:rPr lang="en-US" altLang="ko-KR" sz="2000" b="1" dirty="0"/>
              <a:t> = 0 </a:t>
            </a:r>
            <a:r>
              <a:rPr lang="ko-KR" altLang="en-US" sz="2000" b="1" dirty="0"/>
              <a:t>으로 초기화</a:t>
            </a:r>
            <a:endParaRPr lang="en-US" altLang="ko-KR" sz="2000" b="1" dirty="0"/>
          </a:p>
          <a:p>
            <a:r>
              <a:rPr lang="en-US" altLang="ko-KR" sz="2000" b="1" dirty="0"/>
              <a:t>2)</a:t>
            </a:r>
            <a:r>
              <a:rPr lang="en-US" altLang="ko-KR" sz="2000" b="1" dirty="0" err="1"/>
              <a:t>i</a:t>
            </a:r>
            <a:r>
              <a:rPr lang="en-US" altLang="ko-KR" sz="2000" b="1" dirty="0"/>
              <a:t> &lt; 5 </a:t>
            </a:r>
            <a:r>
              <a:rPr lang="ko-KR" altLang="en-US" sz="2000" b="1" dirty="0"/>
              <a:t>조건식이 만족</a:t>
            </a:r>
            <a:endParaRPr lang="en-US" altLang="ko-KR" sz="2000" b="1" dirty="0"/>
          </a:p>
          <a:p>
            <a:r>
              <a:rPr lang="en-US" altLang="ko-KR" sz="2000" b="1" dirty="0"/>
              <a:t>3)console.log </a:t>
            </a:r>
            <a:r>
              <a:rPr lang="ko-KR" altLang="en-US" sz="2000" b="1" dirty="0"/>
              <a:t>명령문을 수행</a:t>
            </a:r>
            <a:endParaRPr lang="en-US" altLang="ko-KR" sz="2000" b="1" dirty="0"/>
          </a:p>
          <a:p>
            <a:r>
              <a:rPr lang="en-US" altLang="ko-KR" sz="2000" b="1" dirty="0"/>
              <a:t>4)</a:t>
            </a:r>
            <a:r>
              <a:rPr lang="en-US" altLang="ko-KR" sz="2000" b="1" dirty="0" err="1"/>
              <a:t>i</a:t>
            </a:r>
            <a:r>
              <a:rPr lang="en-US" altLang="ko-KR" sz="2000" b="1" dirty="0"/>
              <a:t>++ </a:t>
            </a:r>
            <a:r>
              <a:rPr lang="ko-KR" altLang="en-US" sz="2000" b="1" dirty="0"/>
              <a:t>표현식을 수행</a:t>
            </a:r>
            <a:endParaRPr lang="en-US" altLang="ko-KR" sz="2000" b="1" dirty="0"/>
          </a:p>
          <a:p>
            <a:r>
              <a:rPr lang="en-US" altLang="ko-KR" sz="2000" b="1" dirty="0"/>
              <a:t>5)</a:t>
            </a:r>
            <a:r>
              <a:rPr lang="ko-KR" altLang="en-US" sz="2000" b="1" dirty="0"/>
              <a:t>그리고 다시 </a:t>
            </a:r>
            <a:r>
              <a:rPr lang="en-US" altLang="ko-KR" sz="2000" b="1" dirty="0">
                <a:solidFill>
                  <a:srgbClr val="FF0000"/>
                </a:solidFill>
              </a:rPr>
              <a:t>2</a:t>
            </a:r>
            <a:r>
              <a:rPr lang="ko-KR" altLang="en-US" sz="2000" b="1" dirty="0">
                <a:solidFill>
                  <a:srgbClr val="FF0000"/>
                </a:solidFill>
              </a:rPr>
              <a:t>번</a:t>
            </a:r>
            <a:r>
              <a:rPr lang="ko-KR" altLang="en-US" sz="2000" b="1" dirty="0"/>
              <a:t>을 반복 수행을 하다가 </a:t>
            </a:r>
            <a:endParaRPr lang="en-US" altLang="ko-KR" sz="2000" b="1" dirty="0"/>
          </a:p>
          <a:p>
            <a:r>
              <a:rPr lang="en-US" altLang="ko-KR" sz="2000" b="1" dirty="0"/>
              <a:t>6)</a:t>
            </a:r>
            <a:r>
              <a:rPr lang="ko-KR" altLang="en-US" sz="2000" b="1" dirty="0"/>
              <a:t>조건식</a:t>
            </a:r>
            <a:r>
              <a:rPr lang="en-US" altLang="ko-KR" sz="2000" b="1" dirty="0"/>
              <a:t>(</a:t>
            </a:r>
            <a:r>
              <a:rPr lang="en-US" altLang="ko-KR" sz="2000" b="1" dirty="0" err="1"/>
              <a:t>i</a:t>
            </a:r>
            <a:r>
              <a:rPr lang="en-US" altLang="ko-KR" sz="2000" b="1" dirty="0"/>
              <a:t> &lt; 5)</a:t>
            </a:r>
            <a:r>
              <a:rPr lang="ko-KR" altLang="en-US" sz="2000" b="1" dirty="0"/>
              <a:t>이 거짓</a:t>
            </a:r>
            <a:r>
              <a:rPr lang="en-US" altLang="ko-KR" sz="2000" b="1" dirty="0"/>
              <a:t>(false)</a:t>
            </a:r>
            <a:r>
              <a:rPr lang="ko-KR" altLang="en-US" sz="2000" b="1" dirty="0"/>
              <a:t>이면 </a:t>
            </a:r>
            <a:r>
              <a:rPr lang="en-US" altLang="ko-KR" sz="2000" b="1" dirty="0"/>
              <a:t>for</a:t>
            </a:r>
            <a:r>
              <a:rPr lang="ko-KR" altLang="en-US" sz="2000" b="1" dirty="0"/>
              <a:t>문이 종료</a:t>
            </a:r>
            <a:endParaRPr lang="en-US" altLang="ko-KR" sz="2000" b="1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404184" y="1534991"/>
            <a:ext cx="7738192" cy="16561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800" b="1" dirty="0"/>
              <a:t>for (let </a:t>
            </a:r>
            <a:r>
              <a:rPr lang="en-US" altLang="ko-KR" sz="2800" b="1" dirty="0" err="1"/>
              <a:t>i</a:t>
            </a:r>
            <a:r>
              <a:rPr lang="en-US" altLang="ko-KR" sz="2800" b="1" dirty="0"/>
              <a:t> = 0; </a:t>
            </a:r>
            <a:r>
              <a:rPr lang="en-US" altLang="ko-KR" sz="2800" b="1" dirty="0" err="1"/>
              <a:t>i</a:t>
            </a:r>
            <a:r>
              <a:rPr lang="en-US" altLang="ko-KR" sz="2800" b="1" dirty="0"/>
              <a:t> &lt; 5; </a:t>
            </a:r>
            <a:r>
              <a:rPr lang="en-US" altLang="ko-KR" sz="2800" b="1" dirty="0" err="1"/>
              <a:t>i</a:t>
            </a:r>
            <a:r>
              <a:rPr lang="en-US" altLang="ko-KR" sz="2800" b="1" dirty="0"/>
              <a:t>++) </a:t>
            </a:r>
          </a:p>
          <a:p>
            <a:r>
              <a:rPr lang="en-US" altLang="ko-KR" sz="2800" b="1" dirty="0"/>
              <a:t>{ console.log(</a:t>
            </a:r>
            <a:r>
              <a:rPr lang="en-US" altLang="ko-KR" sz="2800" b="1" dirty="0" err="1"/>
              <a:t>i</a:t>
            </a:r>
            <a:r>
              <a:rPr lang="en-US" altLang="ko-KR" sz="2800" b="1" dirty="0"/>
              <a:t>); } </a:t>
            </a:r>
          </a:p>
          <a:p>
            <a:r>
              <a:rPr lang="en-US" altLang="ko-KR" sz="2800" b="1" dirty="0"/>
              <a:t>// [</a:t>
            </a:r>
            <a:r>
              <a:rPr lang="ko-KR" altLang="en-US" sz="2800" b="1" dirty="0"/>
              <a:t>출력</a:t>
            </a:r>
            <a:r>
              <a:rPr lang="en-US" altLang="ko-KR" sz="2800" b="1" dirty="0"/>
              <a:t>] // 0 // 1 // 2 // 3 // 4 </a:t>
            </a:r>
            <a:endParaRPr lang="ko-KR" altLang="ko-KR" sz="4400" b="1" dirty="0"/>
          </a:p>
        </p:txBody>
      </p:sp>
    </p:spTree>
    <p:extLst>
      <p:ext uri="{BB962C8B-B14F-4D97-AF65-F5344CB8AC3E}">
        <p14:creationId xmlns:p14="http://schemas.microsoft.com/office/powerpoint/2010/main" val="8316424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396477" y="1606642"/>
            <a:ext cx="10108168" cy="467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nn-NO" altLang="ko-KR" sz="2800" b="1" dirty="0"/>
              <a:t>for (let i = 0; i &lt;= 5; i++) {</a:t>
            </a:r>
          </a:p>
          <a:p>
            <a:r>
              <a:rPr lang="nn-NO" altLang="ko-KR" sz="2800" b="1" dirty="0"/>
              <a:t>    console.log(i);  </a:t>
            </a:r>
            <a:r>
              <a:rPr lang="en-US" altLang="ko-KR" sz="2800" b="1" dirty="0"/>
              <a:t>//1</a:t>
            </a:r>
            <a:endParaRPr lang="nn-NO" altLang="ko-KR" sz="2800" b="1" dirty="0"/>
          </a:p>
          <a:p>
            <a:r>
              <a:rPr lang="nn-NO" altLang="ko-KR" sz="2800" b="1" dirty="0"/>
              <a:t>}</a:t>
            </a:r>
          </a:p>
          <a:p>
            <a:r>
              <a:rPr lang="en-US" altLang="ko-KR" sz="2800" b="1" dirty="0"/>
              <a:t>console.log('---------------------');</a:t>
            </a:r>
          </a:p>
          <a:p>
            <a:endParaRPr lang="nn-NO" altLang="ko-KR" sz="2800" b="1" dirty="0"/>
          </a:p>
          <a:p>
            <a:r>
              <a:rPr lang="en-US" altLang="ko-KR" sz="2800" b="1" dirty="0"/>
              <a:t>let fruits = ['</a:t>
            </a:r>
            <a:r>
              <a:rPr lang="ko-KR" altLang="en-US" sz="2800" b="1" dirty="0"/>
              <a:t>사과</a:t>
            </a:r>
            <a:r>
              <a:rPr lang="en-US" altLang="ko-KR" sz="2800" b="1" dirty="0"/>
              <a:t>', '</a:t>
            </a:r>
            <a:r>
              <a:rPr lang="ko-KR" altLang="en-US" sz="2800" b="1" dirty="0"/>
              <a:t>배</a:t>
            </a:r>
            <a:r>
              <a:rPr lang="en-US" altLang="ko-KR" sz="2800" b="1" dirty="0"/>
              <a:t>', '</a:t>
            </a:r>
            <a:r>
              <a:rPr lang="ko-KR" altLang="en-US" sz="2800" b="1" dirty="0"/>
              <a:t>딸기</a:t>
            </a:r>
            <a:r>
              <a:rPr lang="en-US" altLang="ko-KR" sz="2800" b="1" dirty="0"/>
              <a:t>', '</a:t>
            </a:r>
            <a:r>
              <a:rPr lang="ko-KR" altLang="en-US" sz="2800" b="1" dirty="0"/>
              <a:t>바나나</a:t>
            </a:r>
            <a:r>
              <a:rPr lang="en-US" altLang="ko-KR" sz="2800" b="1" dirty="0"/>
              <a:t>','</a:t>
            </a:r>
            <a:r>
              <a:rPr lang="ko-KR" altLang="en-US" sz="2800" b="1" dirty="0"/>
              <a:t>파인애플</a:t>
            </a:r>
            <a:r>
              <a:rPr lang="en-US" altLang="ko-KR" sz="2800" b="1" dirty="0"/>
              <a:t>'];</a:t>
            </a:r>
          </a:p>
          <a:p>
            <a:r>
              <a:rPr lang="en-US" altLang="ko-KR" sz="2800" b="1" dirty="0"/>
              <a:t>for ( let </a:t>
            </a:r>
            <a:r>
              <a:rPr lang="en-US" altLang="ko-KR" sz="2800" b="1" dirty="0" err="1"/>
              <a:t>i</a:t>
            </a:r>
            <a:r>
              <a:rPr lang="en-US" altLang="ko-KR" sz="2800" b="1" dirty="0"/>
              <a:t>=0; </a:t>
            </a:r>
            <a:r>
              <a:rPr lang="en-US" altLang="ko-KR" sz="2800" b="1" dirty="0" err="1"/>
              <a:t>i</a:t>
            </a:r>
            <a:r>
              <a:rPr lang="en-US" altLang="ko-KR" sz="2800" b="1" dirty="0"/>
              <a:t>&lt;</a:t>
            </a:r>
            <a:r>
              <a:rPr lang="en-US" altLang="ko-KR" sz="2800" b="1" dirty="0" err="1"/>
              <a:t>fruits.length</a:t>
            </a:r>
            <a:r>
              <a:rPr lang="en-US" altLang="ko-KR" sz="2800" b="1" dirty="0"/>
              <a:t>; </a:t>
            </a:r>
            <a:r>
              <a:rPr lang="en-US" altLang="ko-KR" sz="2800" b="1" dirty="0" err="1"/>
              <a:t>i</a:t>
            </a:r>
            <a:r>
              <a:rPr lang="en-US" altLang="ko-KR" sz="2800" b="1" dirty="0"/>
              <a:t>++){</a:t>
            </a:r>
          </a:p>
          <a:p>
            <a:r>
              <a:rPr lang="en-US" altLang="ko-KR" sz="2800" b="1" dirty="0"/>
              <a:t>    console.log(fruits[</a:t>
            </a:r>
            <a:r>
              <a:rPr lang="en-US" altLang="ko-KR" sz="2800" b="1" dirty="0" err="1"/>
              <a:t>i</a:t>
            </a:r>
            <a:r>
              <a:rPr lang="en-US" altLang="ko-KR" sz="2800" b="1" dirty="0"/>
              <a:t>]); //2</a:t>
            </a:r>
          </a:p>
          <a:p>
            <a:r>
              <a:rPr lang="ko-KR" altLang="en-US" sz="2800" b="1" dirty="0"/>
              <a:t>    </a:t>
            </a:r>
            <a:r>
              <a:rPr lang="en-US" altLang="ko-KR" sz="2800" b="1" dirty="0"/>
              <a:t>console.log(</a:t>
            </a:r>
            <a:r>
              <a:rPr lang="en-US" altLang="ko-KR" sz="2800" b="1" dirty="0" err="1"/>
              <a:t>i</a:t>
            </a:r>
            <a:r>
              <a:rPr lang="en-US" altLang="ko-KR" sz="2800" b="1" dirty="0"/>
              <a:t>); //3</a:t>
            </a:r>
          </a:p>
          <a:p>
            <a:r>
              <a:rPr lang="en-US" altLang="ko-KR" sz="2800" b="1" dirty="0"/>
              <a:t>}</a:t>
            </a:r>
            <a:endParaRPr lang="nn-NO" altLang="ko-KR" sz="2800" b="1" dirty="0"/>
          </a:p>
        </p:txBody>
      </p:sp>
    </p:spTree>
    <p:extLst>
      <p:ext uri="{BB962C8B-B14F-4D97-AF65-F5344CB8AC3E}">
        <p14:creationId xmlns:p14="http://schemas.microsoft.com/office/powerpoint/2010/main" val="32806063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03483-BC59-4D45-8137-1007D4E73B9E}"/>
              </a:ext>
            </a:extLst>
          </p:cNvPr>
          <p:cNvSpPr txBox="1"/>
          <p:nvPr/>
        </p:nvSpPr>
        <p:spPr>
          <a:xfrm>
            <a:off x="1016004" y="356377"/>
            <a:ext cx="28087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4000" b="1"/>
            </a:lvl1pPr>
          </a:lstStyle>
          <a:p>
            <a:r>
              <a:rPr lang="en-US" altLang="ko-KR" dirty="0"/>
              <a:t>for ... in </a:t>
            </a:r>
            <a:r>
              <a:rPr lang="ko-KR" altLang="en-US" dirty="0"/>
              <a:t>문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040289" y="1456874"/>
            <a:ext cx="8783220" cy="479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ko-KR" altLang="en-US" sz="2400" b="1" dirty="0"/>
              <a:t>객체</a:t>
            </a:r>
            <a:r>
              <a:rPr lang="en-US" altLang="ko-KR" sz="2400" b="1" dirty="0"/>
              <a:t>(object)</a:t>
            </a:r>
            <a:r>
              <a:rPr lang="ko-KR" altLang="en-US" sz="2400" b="1" dirty="0"/>
              <a:t>에 있는 키 항목들을 반복적으로 반환</a:t>
            </a:r>
            <a:endParaRPr lang="en-US" altLang="ko-KR" sz="2400" b="1" dirty="0"/>
          </a:p>
          <a:p>
            <a:r>
              <a:rPr lang="en-US" altLang="ko-KR" sz="2400" b="1" dirty="0"/>
              <a:t>ES6</a:t>
            </a:r>
            <a:r>
              <a:rPr lang="ko-KR" altLang="en-US" sz="2400" b="1" dirty="0"/>
              <a:t> 에서 추가</a:t>
            </a:r>
            <a:endParaRPr lang="en-US" altLang="ko-KR" sz="2400" b="1" dirty="0"/>
          </a:p>
          <a:p>
            <a:r>
              <a:rPr lang="en-US" altLang="ko-KR" sz="2400" b="1" dirty="0" err="1"/>
              <a:t>const</a:t>
            </a:r>
            <a:r>
              <a:rPr lang="en-US" altLang="ko-KR" sz="2400" b="1" dirty="0"/>
              <a:t> person = { </a:t>
            </a:r>
          </a:p>
          <a:p>
            <a:r>
              <a:rPr lang="en-US" altLang="ko-KR" sz="2400" b="1" dirty="0"/>
              <a:t>	name: '</a:t>
            </a:r>
            <a:r>
              <a:rPr lang="ko-KR" altLang="en-US" sz="2400" b="1" dirty="0"/>
              <a:t>홍길동</a:t>
            </a:r>
            <a:r>
              <a:rPr lang="en-US" altLang="ko-KR" sz="2400" b="1" dirty="0"/>
              <a:t>', </a:t>
            </a:r>
          </a:p>
          <a:p>
            <a:r>
              <a:rPr lang="en-US" altLang="ko-KR" sz="2400" b="1" dirty="0"/>
              <a:t>	age: 20, </a:t>
            </a:r>
          </a:p>
          <a:p>
            <a:r>
              <a:rPr lang="en-US" altLang="ko-KR" sz="2400" b="1" dirty="0"/>
              <a:t>	job: '</a:t>
            </a:r>
            <a:r>
              <a:rPr lang="ko-KR" altLang="en-US" sz="2400" b="1" dirty="0"/>
              <a:t>개발자</a:t>
            </a:r>
            <a:r>
              <a:rPr lang="en-US" altLang="ko-KR" sz="2400" b="1" dirty="0"/>
              <a:t>' }; </a:t>
            </a:r>
          </a:p>
          <a:p>
            <a:r>
              <a:rPr lang="en-US" altLang="ko-KR" sz="2400" b="1" dirty="0"/>
              <a:t>for (let key in person) </a:t>
            </a:r>
          </a:p>
          <a:p>
            <a:r>
              <a:rPr lang="en-US" altLang="ko-KR" sz="2400" b="1" dirty="0"/>
              <a:t>	{ console.log(`key: ${key}, value: ${person[key]}`); } </a:t>
            </a:r>
          </a:p>
          <a:p>
            <a:endParaRPr lang="en-US" altLang="ko-KR" sz="2400" b="1" dirty="0"/>
          </a:p>
          <a:p>
            <a:r>
              <a:rPr lang="en-US" altLang="ko-KR" sz="2400" b="1" dirty="0"/>
              <a:t>// key: name, value: </a:t>
            </a:r>
            <a:r>
              <a:rPr lang="ko-KR" altLang="en-US" sz="2400" b="1" dirty="0"/>
              <a:t>홍길동 </a:t>
            </a:r>
            <a:endParaRPr lang="en-US" altLang="ko-KR" sz="2400" b="1" dirty="0"/>
          </a:p>
          <a:p>
            <a:r>
              <a:rPr lang="en-US" altLang="ko-KR" sz="2400" b="1" dirty="0"/>
              <a:t>// key: age, value: 20 </a:t>
            </a:r>
          </a:p>
          <a:p>
            <a:r>
              <a:rPr lang="en-US" altLang="ko-KR" sz="2400" b="1" dirty="0"/>
              <a:t>// key: job, value: </a:t>
            </a:r>
            <a:r>
              <a:rPr lang="ko-KR" altLang="en-US" sz="2400" b="1" dirty="0"/>
              <a:t>개발자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38793343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321832" y="1444389"/>
            <a:ext cx="10108168" cy="479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b="1" dirty="0" err="1"/>
              <a:t>const</a:t>
            </a:r>
            <a:r>
              <a:rPr lang="en-US" altLang="ko-KR" b="1" dirty="0"/>
              <a:t> person = { </a:t>
            </a:r>
          </a:p>
          <a:p>
            <a:r>
              <a:rPr lang="en-US" altLang="ko-KR" b="1" dirty="0"/>
              <a:t>	name: '</a:t>
            </a:r>
            <a:r>
              <a:rPr lang="ko-KR" altLang="en-US" b="1" dirty="0"/>
              <a:t>홍길동</a:t>
            </a:r>
            <a:r>
              <a:rPr lang="en-US" altLang="ko-KR" b="1" dirty="0"/>
              <a:t>', </a:t>
            </a:r>
          </a:p>
          <a:p>
            <a:r>
              <a:rPr lang="en-US" altLang="ko-KR" b="1" dirty="0"/>
              <a:t>	age: 20, </a:t>
            </a:r>
          </a:p>
          <a:p>
            <a:r>
              <a:rPr lang="en-US" altLang="ko-KR" b="1" dirty="0"/>
              <a:t>	job: '</a:t>
            </a:r>
            <a:r>
              <a:rPr lang="ko-KR" altLang="en-US" b="1" dirty="0"/>
              <a:t>개발자</a:t>
            </a:r>
            <a:r>
              <a:rPr lang="en-US" altLang="ko-KR" b="1" dirty="0"/>
              <a:t>' }; </a:t>
            </a:r>
          </a:p>
          <a:p>
            <a:endParaRPr lang="en-US" altLang="ko-KR" b="1" dirty="0"/>
          </a:p>
          <a:p>
            <a:r>
              <a:rPr lang="en-US" altLang="ko-KR" b="1" dirty="0"/>
              <a:t>console.log(person.name);    //1</a:t>
            </a:r>
          </a:p>
          <a:p>
            <a:r>
              <a:rPr lang="en-US" altLang="ko-KR" b="1" dirty="0"/>
              <a:t>console.log(</a:t>
            </a:r>
            <a:r>
              <a:rPr lang="en-US" altLang="ko-KR" b="1" dirty="0" err="1"/>
              <a:t>person.age</a:t>
            </a:r>
            <a:r>
              <a:rPr lang="en-US" altLang="ko-KR" b="1" dirty="0"/>
              <a:t>);      //2</a:t>
            </a:r>
          </a:p>
          <a:p>
            <a:r>
              <a:rPr lang="en-US" altLang="ko-KR" b="1" dirty="0"/>
              <a:t>console.log(person['name']);  //3</a:t>
            </a:r>
          </a:p>
          <a:p>
            <a:endParaRPr lang="en-US" altLang="ko-KR" b="1" dirty="0"/>
          </a:p>
          <a:p>
            <a:r>
              <a:rPr lang="en-US" altLang="ko-KR" b="1" dirty="0"/>
              <a:t>let key=prompt('</a:t>
            </a:r>
            <a:r>
              <a:rPr lang="ko-KR" altLang="en-US" b="1" dirty="0"/>
              <a:t>어떤 값을 출력할까요</a:t>
            </a:r>
            <a:r>
              <a:rPr lang="en-US" altLang="ko-KR" b="1" dirty="0"/>
              <a:t>? </a:t>
            </a:r>
            <a:r>
              <a:rPr lang="ko-KR" altLang="en-US" b="1" dirty="0"/>
              <a:t>키를 입력해주세요</a:t>
            </a:r>
            <a:r>
              <a:rPr lang="en-US" altLang="ko-KR" b="1" dirty="0"/>
              <a:t>');</a:t>
            </a:r>
          </a:p>
          <a:p>
            <a:r>
              <a:rPr lang="en-US" altLang="ko-KR" b="1" dirty="0"/>
              <a:t>console.log(person[key]);  //4</a:t>
            </a:r>
          </a:p>
          <a:p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>let keys=</a:t>
            </a:r>
            <a:r>
              <a:rPr lang="en-US" altLang="ko-KR" b="1" dirty="0" err="1"/>
              <a:t>Object.keys</a:t>
            </a:r>
            <a:r>
              <a:rPr lang="en-US" altLang="ko-KR" b="1" dirty="0"/>
              <a:t>(person);</a:t>
            </a:r>
          </a:p>
          <a:p>
            <a:r>
              <a:rPr lang="en-US" altLang="ko-KR" b="1" dirty="0"/>
              <a:t>console.log(keys); //5</a:t>
            </a:r>
          </a:p>
          <a:p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 err="1"/>
              <a:t>document.write</a:t>
            </a:r>
            <a:r>
              <a:rPr lang="en-US" altLang="ko-KR" b="1" dirty="0"/>
              <a:t>(keys);  //6</a:t>
            </a:r>
          </a:p>
        </p:txBody>
      </p:sp>
    </p:spTree>
    <p:extLst>
      <p:ext uri="{BB962C8B-B14F-4D97-AF65-F5344CB8AC3E}">
        <p14:creationId xmlns:p14="http://schemas.microsoft.com/office/powerpoint/2010/main" val="30370355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512837" y="1640332"/>
            <a:ext cx="4659090" cy="40260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000" b="1" dirty="0"/>
              <a:t>let keys=</a:t>
            </a:r>
            <a:r>
              <a:rPr lang="en-US" altLang="ko-KR" sz="2000" b="1" dirty="0" err="1"/>
              <a:t>Object.keys</a:t>
            </a:r>
            <a:r>
              <a:rPr lang="en-US" altLang="ko-KR" sz="2000" b="1" dirty="0"/>
              <a:t>(person);</a:t>
            </a:r>
          </a:p>
          <a:p>
            <a:endParaRPr lang="en-US" altLang="ko-KR" sz="2000" b="1" dirty="0"/>
          </a:p>
          <a:p>
            <a:r>
              <a:rPr lang="en-US" altLang="ko-KR" sz="2000" b="1" dirty="0"/>
              <a:t>for(let </a:t>
            </a:r>
            <a:r>
              <a:rPr lang="en-US" altLang="ko-KR" sz="2000" b="1" dirty="0" err="1"/>
              <a:t>i</a:t>
            </a:r>
            <a:r>
              <a:rPr lang="en-US" altLang="ko-KR" sz="2000" b="1" dirty="0"/>
              <a:t>=0;i&lt;</a:t>
            </a:r>
            <a:r>
              <a:rPr lang="en-US" altLang="ko-KR" sz="2000" b="1" dirty="0" err="1"/>
              <a:t>keys.length;i</a:t>
            </a:r>
            <a:r>
              <a:rPr lang="en-US" altLang="ko-KR" sz="2000" b="1" dirty="0"/>
              <a:t>++){</a:t>
            </a:r>
          </a:p>
          <a:p>
            <a:r>
              <a:rPr lang="en-US" altLang="ko-KR" sz="2000" b="1" dirty="0"/>
              <a:t>    console.log(keys[</a:t>
            </a:r>
            <a:r>
              <a:rPr lang="en-US" altLang="ko-KR" sz="2000" b="1" dirty="0" err="1"/>
              <a:t>i</a:t>
            </a:r>
            <a:r>
              <a:rPr lang="en-US" altLang="ko-KR" sz="2000" b="1" dirty="0"/>
              <a:t>]);</a:t>
            </a:r>
          </a:p>
          <a:p>
            <a:r>
              <a:rPr lang="en-US" altLang="ko-KR" sz="2000" b="1" dirty="0"/>
              <a:t>}      //7</a:t>
            </a:r>
          </a:p>
          <a:p>
            <a:r>
              <a:rPr lang="en-US" altLang="ko-KR" sz="2000" b="1" dirty="0"/>
              <a:t/>
            </a:r>
            <a:br>
              <a:rPr lang="en-US" altLang="ko-KR" sz="2000" b="1" dirty="0"/>
            </a:br>
            <a:r>
              <a:rPr lang="en-US" altLang="ko-KR" sz="2000" b="1" dirty="0"/>
              <a:t>for(let </a:t>
            </a:r>
            <a:r>
              <a:rPr lang="en-US" altLang="ko-KR" sz="2000" b="1" dirty="0" err="1"/>
              <a:t>i</a:t>
            </a:r>
            <a:r>
              <a:rPr lang="en-US" altLang="ko-KR" sz="2000" b="1" dirty="0"/>
              <a:t>=0;i&lt;</a:t>
            </a:r>
            <a:r>
              <a:rPr lang="en-US" altLang="ko-KR" sz="2000" b="1" dirty="0" err="1"/>
              <a:t>keys.length;i</a:t>
            </a:r>
            <a:r>
              <a:rPr lang="en-US" altLang="ko-KR" sz="2000" b="1" dirty="0"/>
              <a:t>++){</a:t>
            </a:r>
          </a:p>
          <a:p>
            <a:r>
              <a:rPr lang="en-US" altLang="ko-KR" sz="2000" b="1" dirty="0"/>
              <a:t>    console.log(keys[</a:t>
            </a:r>
            <a:r>
              <a:rPr lang="en-US" altLang="ko-KR" sz="2000" b="1" dirty="0" err="1"/>
              <a:t>i</a:t>
            </a:r>
            <a:r>
              <a:rPr lang="en-US" altLang="ko-KR" sz="2000" b="1" dirty="0"/>
              <a:t>]);</a:t>
            </a:r>
          </a:p>
          <a:p>
            <a:r>
              <a:rPr lang="en-US" altLang="ko-KR" sz="2000" b="1" dirty="0"/>
              <a:t>    let key=keys[</a:t>
            </a:r>
            <a:r>
              <a:rPr lang="en-US" altLang="ko-KR" sz="2000" b="1" dirty="0" err="1"/>
              <a:t>i</a:t>
            </a:r>
            <a:r>
              <a:rPr lang="en-US" altLang="ko-KR" sz="2000" b="1" dirty="0"/>
              <a:t>];</a:t>
            </a:r>
          </a:p>
          <a:p>
            <a:r>
              <a:rPr lang="en-US" altLang="ko-KR" sz="2000" b="1" dirty="0"/>
              <a:t>    console.log(person[key]);</a:t>
            </a:r>
          </a:p>
          <a:p>
            <a:r>
              <a:rPr lang="en-US" altLang="ko-KR" sz="2000" b="1" dirty="0"/>
              <a:t>    console.log(person[keys[</a:t>
            </a:r>
            <a:r>
              <a:rPr lang="en-US" altLang="ko-KR" sz="2000" b="1" dirty="0" err="1"/>
              <a:t>i</a:t>
            </a:r>
            <a:r>
              <a:rPr lang="en-US" altLang="ko-KR" sz="2000" b="1" dirty="0"/>
              <a:t>]]);</a:t>
            </a:r>
          </a:p>
          <a:p>
            <a:r>
              <a:rPr lang="en-US" altLang="ko-KR" sz="2000" b="1" dirty="0"/>
              <a:t>}      //8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290109" y="1640332"/>
            <a:ext cx="6737050" cy="15946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for (let key in person) {</a:t>
            </a:r>
          </a:p>
          <a:p>
            <a:r>
              <a:rPr lang="en-US" altLang="ko-KR" sz="2000" b="1" dirty="0">
                <a:solidFill>
                  <a:srgbClr val="FF0000"/>
                </a:solidFill>
              </a:rPr>
              <a:t>    console.log(person[key]);//9</a:t>
            </a:r>
          </a:p>
          <a:p>
            <a:r>
              <a:rPr lang="en-US" altLang="ko-KR" sz="2000" b="1" dirty="0">
                <a:solidFill>
                  <a:srgbClr val="FF0000"/>
                </a:solidFill>
              </a:rPr>
              <a:t>    console.log(`key: ${key}, value: ${person[key]}`);</a:t>
            </a:r>
          </a:p>
          <a:p>
            <a:r>
              <a:rPr lang="en-US" altLang="ko-KR" sz="2000" b="1" dirty="0">
                <a:solidFill>
                  <a:srgbClr val="FF0000"/>
                </a:solidFill>
              </a:rPr>
              <a:t>}   //10</a:t>
            </a:r>
          </a:p>
        </p:txBody>
      </p:sp>
    </p:spTree>
    <p:extLst>
      <p:ext uri="{BB962C8B-B14F-4D97-AF65-F5344CB8AC3E}">
        <p14:creationId xmlns:p14="http://schemas.microsoft.com/office/powerpoint/2010/main" val="36321532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03483-BC59-4D45-8137-1007D4E73B9E}"/>
              </a:ext>
            </a:extLst>
          </p:cNvPr>
          <p:cNvSpPr txBox="1"/>
          <p:nvPr/>
        </p:nvSpPr>
        <p:spPr>
          <a:xfrm>
            <a:off x="1016004" y="356377"/>
            <a:ext cx="29434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4000" b="1"/>
            </a:lvl1pPr>
          </a:lstStyle>
          <a:p>
            <a:r>
              <a:rPr lang="en-US" altLang="ko-KR" dirty="0"/>
              <a:t>for ... Of </a:t>
            </a:r>
            <a:r>
              <a:rPr lang="ko-KR" altLang="en-US" dirty="0"/>
              <a:t>문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797693" y="1641540"/>
            <a:ext cx="9249751" cy="44261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ko-KR" altLang="en-US" sz="2400" b="1" dirty="0"/>
              <a:t>반복 가능한 배열과 같은 객체에서 반복해서 값을 하나씩 반환</a:t>
            </a:r>
            <a:endParaRPr lang="en-US" altLang="ko-KR" sz="2400" b="1" dirty="0"/>
          </a:p>
          <a:p>
            <a:r>
              <a:rPr lang="en-US" altLang="ko-KR" sz="2400" b="1" dirty="0"/>
              <a:t>ES6</a:t>
            </a:r>
            <a:r>
              <a:rPr lang="ko-KR" altLang="en-US" sz="2400" b="1" dirty="0"/>
              <a:t> 에서 추가</a:t>
            </a:r>
            <a:endParaRPr lang="en-US" altLang="ko-KR" sz="2400" b="1" dirty="0"/>
          </a:p>
          <a:p>
            <a:r>
              <a:rPr lang="en-US" altLang="ko-KR" sz="2400" b="1" dirty="0" err="1"/>
              <a:t>const</a:t>
            </a:r>
            <a:r>
              <a:rPr lang="en-US" altLang="ko-KR" sz="2400" b="1" dirty="0"/>
              <a:t> array = ['a', 'b', 'c', 'd', 'e']; </a:t>
            </a:r>
          </a:p>
          <a:p>
            <a:r>
              <a:rPr lang="en-US" altLang="ko-KR" sz="2400" b="1" dirty="0"/>
              <a:t>for (let value of array) </a:t>
            </a:r>
          </a:p>
          <a:p>
            <a:r>
              <a:rPr lang="en-US" altLang="ko-KR" sz="2400" b="1" dirty="0"/>
              <a:t>     { console.log('value: ', value); } </a:t>
            </a:r>
          </a:p>
          <a:p>
            <a:endParaRPr lang="en-US" altLang="ko-KR" sz="2400" b="1" dirty="0"/>
          </a:p>
          <a:p>
            <a:r>
              <a:rPr lang="en-US" altLang="ko-KR" sz="2400" b="1" dirty="0"/>
              <a:t>// value: a </a:t>
            </a:r>
          </a:p>
          <a:p>
            <a:r>
              <a:rPr lang="en-US" altLang="ko-KR" sz="2400" b="1" dirty="0"/>
              <a:t>// value: b </a:t>
            </a:r>
          </a:p>
          <a:p>
            <a:r>
              <a:rPr lang="en-US" altLang="ko-KR" sz="2400" b="1" dirty="0"/>
              <a:t>// value: c </a:t>
            </a:r>
          </a:p>
          <a:p>
            <a:r>
              <a:rPr lang="en-US" altLang="ko-KR" sz="2400" b="1" dirty="0"/>
              <a:t>// value: d </a:t>
            </a:r>
          </a:p>
          <a:p>
            <a:r>
              <a:rPr lang="en-US" altLang="ko-KR" sz="2400" b="1" dirty="0"/>
              <a:t>// value: e</a:t>
            </a:r>
          </a:p>
        </p:txBody>
      </p:sp>
    </p:spTree>
    <p:extLst>
      <p:ext uri="{BB962C8B-B14F-4D97-AF65-F5344CB8AC3E}">
        <p14:creationId xmlns:p14="http://schemas.microsoft.com/office/powerpoint/2010/main" val="2457031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9792" y="1612340"/>
            <a:ext cx="8155302" cy="18408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400" b="1" dirty="0" err="1"/>
              <a:t>const</a:t>
            </a:r>
            <a:r>
              <a:rPr lang="en-US" altLang="ko-KR" sz="2400" b="1" dirty="0"/>
              <a:t> array = ['a', 'b', 'c', 'd', 'e'];</a:t>
            </a:r>
          </a:p>
          <a:p>
            <a:r>
              <a:rPr lang="en-US" altLang="ko-KR" sz="2400" b="1" dirty="0"/>
              <a:t>for (let value of array) {</a:t>
            </a:r>
          </a:p>
          <a:p>
            <a:r>
              <a:rPr lang="en-US" altLang="ko-KR" sz="2400" b="1" dirty="0"/>
              <a:t>    console.log('value: ', value);</a:t>
            </a:r>
          </a:p>
          <a:p>
            <a:r>
              <a:rPr lang="en-US" altLang="ko-KR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202857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03483-BC59-4D45-8137-1007D4E73B9E}"/>
              </a:ext>
            </a:extLst>
          </p:cNvPr>
          <p:cNvSpPr txBox="1"/>
          <p:nvPr/>
        </p:nvSpPr>
        <p:spPr>
          <a:xfrm>
            <a:off x="1016004" y="356377"/>
            <a:ext cx="2271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4000" b="1"/>
            </a:lvl1pPr>
          </a:lstStyle>
          <a:p>
            <a:r>
              <a:rPr lang="en-US" altLang="ko-KR" dirty="0"/>
              <a:t>While </a:t>
            </a:r>
            <a:r>
              <a:rPr lang="ko-KR" altLang="en-US" dirty="0"/>
              <a:t>문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061322" y="1626070"/>
            <a:ext cx="8344682" cy="7944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ko-KR" altLang="en-US" sz="2800" b="1" dirty="0"/>
              <a:t>반복 횟수를 알 수 없을 때 사용할 수 있는 </a:t>
            </a:r>
            <a:r>
              <a:rPr lang="ko-KR" altLang="en-US" sz="2800" b="1" dirty="0" err="1"/>
              <a:t>반복문</a:t>
            </a:r>
            <a:endParaRPr lang="en-US" altLang="ko-KR" sz="2800" b="1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656111" y="2749535"/>
            <a:ext cx="7402289" cy="25795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ko-KR" altLang="en-US" sz="2400" b="1" dirty="0" err="1"/>
              <a:t>조건문이</a:t>
            </a:r>
            <a:r>
              <a:rPr lang="ko-KR" altLang="en-US" sz="2400" b="1" dirty="0"/>
              <a:t> 참</a:t>
            </a:r>
            <a:r>
              <a:rPr lang="en-US" altLang="ko-KR" sz="2400" b="1" dirty="0"/>
              <a:t>(true)</a:t>
            </a:r>
            <a:r>
              <a:rPr lang="ko-KR" altLang="en-US" sz="2400" b="1" dirty="0"/>
              <a:t>일 때 실행되는 </a:t>
            </a:r>
            <a:r>
              <a:rPr lang="ko-KR" altLang="en-US" sz="2400" b="1" dirty="0" err="1"/>
              <a:t>반복문</a:t>
            </a:r>
            <a:r>
              <a:rPr lang="en-US" altLang="ko-KR" sz="2400" b="1" dirty="0"/>
              <a:t>. </a:t>
            </a:r>
          </a:p>
          <a:p>
            <a:r>
              <a:rPr lang="ko-KR" altLang="en-US" sz="2400" b="1" dirty="0"/>
              <a:t>조건은 문장 안이 실행되기 전에 참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거짓을 판단</a:t>
            </a:r>
            <a:r>
              <a:rPr lang="en-US" altLang="ko-KR" sz="2400" b="1" dirty="0"/>
              <a:t>.</a:t>
            </a:r>
          </a:p>
          <a:p>
            <a:r>
              <a:rPr lang="en-US" altLang="ko-KR" sz="2400" b="1" dirty="0"/>
              <a:t>while (count &lt; 5) { </a:t>
            </a:r>
          </a:p>
          <a:p>
            <a:r>
              <a:rPr lang="en-US" altLang="ko-KR" sz="2400" b="1" dirty="0"/>
              <a:t>	console.log(count + '</a:t>
            </a:r>
            <a:r>
              <a:rPr lang="ko-KR" altLang="en-US" sz="2400" b="1" dirty="0"/>
              <a:t>번째 출력</a:t>
            </a:r>
            <a:r>
              <a:rPr lang="en-US" altLang="ko-KR" sz="2400" b="1" dirty="0"/>
              <a:t>'); </a:t>
            </a:r>
          </a:p>
          <a:p>
            <a:r>
              <a:rPr lang="en-US" altLang="ko-KR" sz="2400" b="1" dirty="0"/>
              <a:t>	count++; </a:t>
            </a:r>
          </a:p>
          <a:p>
            <a:r>
              <a:rPr lang="en-US" altLang="ko-KR" sz="2400" b="1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9011243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968411" y="1677655"/>
            <a:ext cx="9088363" cy="25795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400" b="1" dirty="0"/>
              <a:t>let count = 0;</a:t>
            </a:r>
          </a:p>
          <a:p>
            <a:r>
              <a:rPr lang="en-US" altLang="ko-KR" sz="2400" b="1" dirty="0"/>
              <a:t>while (count &lt; 5) {</a:t>
            </a:r>
          </a:p>
          <a:p>
            <a:r>
              <a:rPr lang="en-US" altLang="ko-KR" sz="2400" b="1" dirty="0"/>
              <a:t>    console.log(count + '</a:t>
            </a:r>
            <a:r>
              <a:rPr lang="ko-KR" altLang="en-US" sz="2400" b="1" dirty="0"/>
              <a:t>번째 출력</a:t>
            </a:r>
            <a:r>
              <a:rPr lang="en-US" altLang="ko-KR" sz="2400" b="1" dirty="0"/>
              <a:t>');</a:t>
            </a:r>
          </a:p>
          <a:p>
            <a:r>
              <a:rPr lang="en-US" altLang="ko-KR" sz="2400" b="1" dirty="0"/>
              <a:t>    count++; //</a:t>
            </a:r>
            <a:r>
              <a:rPr lang="ko-KR" altLang="en-US" sz="2400" b="1" dirty="0" err="1"/>
              <a:t>이부분</a:t>
            </a:r>
            <a:r>
              <a:rPr lang="ko-KR" altLang="en-US" sz="2400" b="1" dirty="0"/>
              <a:t> </a:t>
            </a:r>
            <a:r>
              <a:rPr lang="ko-KR" altLang="en-US" sz="2400" b="1" dirty="0" err="1"/>
              <a:t>주석문처리</a:t>
            </a:r>
            <a:r>
              <a:rPr lang="ko-KR" altLang="en-US" sz="2400" b="1" dirty="0"/>
              <a:t> 하면 무한</a:t>
            </a:r>
            <a:endParaRPr lang="en-US" altLang="ko-KR" sz="2400" b="1" dirty="0"/>
          </a:p>
          <a:p>
            <a:r>
              <a:rPr lang="en-US" altLang="ko-KR" sz="2400" b="1" dirty="0"/>
              <a:t>                 // while</a:t>
            </a:r>
            <a:r>
              <a:rPr lang="ko-KR" altLang="en-US" sz="2400" b="1" dirty="0"/>
              <a:t>문이 빠져 나갈 수 있는 조건이 필요</a:t>
            </a:r>
          </a:p>
          <a:p>
            <a:r>
              <a:rPr lang="en-US" altLang="ko-KR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88721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03483-BC59-4D45-8137-1007D4E73B9E}"/>
              </a:ext>
            </a:extLst>
          </p:cNvPr>
          <p:cNvSpPr txBox="1"/>
          <p:nvPr/>
        </p:nvSpPr>
        <p:spPr>
          <a:xfrm>
            <a:off x="1016004" y="356377"/>
            <a:ext cx="32047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4000" b="1"/>
            </a:lvl1pPr>
          </a:lstStyle>
          <a:p>
            <a:r>
              <a:rPr lang="en-US" altLang="ko-KR" dirty="0"/>
              <a:t>do...while </a:t>
            </a:r>
            <a:r>
              <a:rPr lang="ko-KR" altLang="en-US" dirty="0"/>
              <a:t>문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385522" y="1652982"/>
            <a:ext cx="7215677" cy="33797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ko-KR" altLang="en-US" sz="2800" b="1" dirty="0" err="1"/>
              <a:t>조건문이</a:t>
            </a:r>
            <a:r>
              <a:rPr lang="ko-KR" altLang="en-US" sz="2800" b="1" dirty="0"/>
              <a:t> 참</a:t>
            </a:r>
            <a:r>
              <a:rPr lang="en-US" altLang="ko-KR" sz="2800" b="1" dirty="0"/>
              <a:t>(true)</a:t>
            </a:r>
            <a:r>
              <a:rPr lang="ko-KR" altLang="en-US" sz="2800" b="1" dirty="0"/>
              <a:t>일 때 실행되는 </a:t>
            </a:r>
            <a:r>
              <a:rPr lang="ko-KR" altLang="en-US" sz="2800" b="1" dirty="0" err="1"/>
              <a:t>반복문</a:t>
            </a:r>
            <a:r>
              <a:rPr lang="en-US" altLang="ko-KR" sz="2800" b="1" dirty="0"/>
              <a:t>. </a:t>
            </a:r>
          </a:p>
          <a:p>
            <a:r>
              <a:rPr lang="ko-KR" altLang="en-US" sz="2800" b="1" dirty="0"/>
              <a:t>단</a:t>
            </a:r>
            <a:r>
              <a:rPr lang="en-US" altLang="ko-KR" sz="2800" b="1" dirty="0"/>
              <a:t>! </a:t>
            </a:r>
            <a:r>
              <a:rPr lang="ko-KR" altLang="en-US" sz="2800" b="1" dirty="0"/>
              <a:t>최초 한번은 무조건 수행</a:t>
            </a:r>
            <a:r>
              <a:rPr lang="en-US" altLang="ko-KR" sz="2800" b="1" dirty="0"/>
              <a:t>.</a:t>
            </a:r>
          </a:p>
          <a:p>
            <a:r>
              <a:rPr lang="en-US" altLang="ko-KR" sz="2800" b="1" dirty="0"/>
              <a:t>let count = 0; </a:t>
            </a:r>
          </a:p>
          <a:p>
            <a:r>
              <a:rPr lang="en-US" altLang="ko-KR" sz="2800" b="1" dirty="0"/>
              <a:t>do { </a:t>
            </a:r>
          </a:p>
          <a:p>
            <a:r>
              <a:rPr lang="en-US" altLang="ko-KR" sz="2800" b="1" dirty="0"/>
              <a:t>	console.log(count + '</a:t>
            </a:r>
            <a:r>
              <a:rPr lang="ko-KR" altLang="en-US" sz="2800" b="1" dirty="0"/>
              <a:t>번째 출력</a:t>
            </a:r>
            <a:r>
              <a:rPr lang="en-US" altLang="ko-KR" sz="2800" b="1" dirty="0"/>
              <a:t>');</a:t>
            </a:r>
          </a:p>
          <a:p>
            <a:r>
              <a:rPr lang="en-US" altLang="ko-KR" sz="2800" b="1" dirty="0"/>
              <a:t>	count++; } </a:t>
            </a:r>
          </a:p>
          <a:p>
            <a:r>
              <a:rPr lang="en-US" altLang="ko-KR" sz="2800" b="1" dirty="0"/>
              <a:t>while (count &lt; 5);</a:t>
            </a:r>
          </a:p>
        </p:txBody>
      </p:sp>
    </p:spTree>
    <p:extLst>
      <p:ext uri="{BB962C8B-B14F-4D97-AF65-F5344CB8AC3E}">
        <p14:creationId xmlns:p14="http://schemas.microsoft.com/office/powerpoint/2010/main" val="35339470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931089" y="1603010"/>
            <a:ext cx="9088363" cy="2517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800" b="1" dirty="0"/>
              <a:t>let count = 0; //let count = 5;</a:t>
            </a:r>
          </a:p>
          <a:p>
            <a:r>
              <a:rPr lang="en-US" altLang="ko-KR" sz="2800" b="1" dirty="0"/>
              <a:t>do {</a:t>
            </a:r>
          </a:p>
          <a:p>
            <a:r>
              <a:rPr lang="en-US" altLang="ko-KR" sz="2800" b="1" dirty="0"/>
              <a:t>    console.log(count + '</a:t>
            </a:r>
            <a:r>
              <a:rPr lang="ko-KR" altLang="en-US" sz="2800" b="1" dirty="0"/>
              <a:t>번째 출력</a:t>
            </a:r>
            <a:r>
              <a:rPr lang="en-US" altLang="ko-KR" sz="2800" b="1" dirty="0"/>
              <a:t>');</a:t>
            </a:r>
          </a:p>
          <a:p>
            <a:r>
              <a:rPr lang="en-US" altLang="ko-KR" sz="2800" b="1" dirty="0"/>
              <a:t>    count++;</a:t>
            </a:r>
          </a:p>
          <a:p>
            <a:r>
              <a:rPr lang="en-US" altLang="ko-KR" sz="2800" b="1" dirty="0"/>
              <a:t>} while (count &lt; 5);</a:t>
            </a:r>
          </a:p>
        </p:txBody>
      </p:sp>
    </p:spTree>
    <p:extLst>
      <p:ext uri="{BB962C8B-B14F-4D97-AF65-F5344CB8AC3E}">
        <p14:creationId xmlns:p14="http://schemas.microsoft.com/office/powerpoint/2010/main" val="21169125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03483-BC59-4D45-8137-1007D4E73B9E}"/>
              </a:ext>
            </a:extLst>
          </p:cNvPr>
          <p:cNvSpPr txBox="1"/>
          <p:nvPr/>
        </p:nvSpPr>
        <p:spPr>
          <a:xfrm>
            <a:off x="1016004" y="356377"/>
            <a:ext cx="23102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4000" b="1"/>
            </a:lvl1pPr>
          </a:lstStyle>
          <a:p>
            <a:r>
              <a:rPr lang="en-US" altLang="ko-KR" dirty="0"/>
              <a:t>continue</a:t>
            </a:r>
            <a:endParaRPr lang="ko-KR" altLang="en-US" dirty="0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012298" y="1272538"/>
            <a:ext cx="8783220" cy="5164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400" b="1" dirty="0"/>
              <a:t>for</a:t>
            </a:r>
            <a:r>
              <a:rPr lang="ko-KR" altLang="en-US" sz="2400" b="1" dirty="0"/>
              <a:t>문이나 </a:t>
            </a:r>
            <a:r>
              <a:rPr lang="en-US" altLang="ko-KR" sz="2400" b="1" dirty="0"/>
              <a:t>while</a:t>
            </a:r>
            <a:r>
              <a:rPr lang="ko-KR" altLang="en-US" sz="2400" b="1" dirty="0"/>
              <a:t>문의 </a:t>
            </a:r>
            <a:r>
              <a:rPr lang="ko-KR" altLang="en-US" sz="2400" b="1" dirty="0" err="1"/>
              <a:t>코드블럭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{ }</a:t>
            </a:r>
            <a:r>
              <a:rPr lang="ko-KR" altLang="en-US" sz="2400" b="1" dirty="0"/>
              <a:t> 안에서 </a:t>
            </a:r>
            <a:endParaRPr lang="en-US" altLang="ko-KR" sz="2400" b="1" dirty="0"/>
          </a:p>
          <a:p>
            <a:r>
              <a:rPr lang="en-US" altLang="ko-KR" sz="2400" b="1" dirty="0"/>
              <a:t>continue</a:t>
            </a:r>
            <a:r>
              <a:rPr lang="ko-KR" altLang="en-US" sz="2400" b="1" dirty="0"/>
              <a:t> 문장을 만난 순간 </a:t>
            </a:r>
            <a:endParaRPr lang="en-US" altLang="ko-KR" sz="2400" b="1" dirty="0"/>
          </a:p>
          <a:p>
            <a:r>
              <a:rPr lang="en-US" altLang="ko-KR" sz="2400" b="1" dirty="0"/>
              <a:t>continue</a:t>
            </a:r>
            <a:r>
              <a:rPr lang="ko-KR" altLang="en-US" sz="2400" b="1" dirty="0"/>
              <a:t>문 아래에 있는 실행해야 하는 문장들을 건너 뛰고</a:t>
            </a:r>
            <a:r>
              <a:rPr lang="en-US" altLang="ko-KR" sz="2400" b="1" dirty="0"/>
              <a:t>, </a:t>
            </a:r>
          </a:p>
          <a:p>
            <a:r>
              <a:rPr lang="ko-KR" altLang="en-US" sz="2400" b="1" dirty="0"/>
              <a:t>다음 반복을 시작</a:t>
            </a:r>
            <a:r>
              <a:rPr lang="en-US" altLang="ko-KR" sz="2400" b="1" dirty="0"/>
              <a:t>.</a:t>
            </a:r>
          </a:p>
          <a:p>
            <a:endParaRPr lang="en-US" altLang="ko-KR" sz="2400" b="1" dirty="0"/>
          </a:p>
          <a:p>
            <a:r>
              <a:rPr lang="en-US" altLang="ko-KR" sz="2400" b="1" dirty="0"/>
              <a:t>let text = ''; </a:t>
            </a:r>
          </a:p>
          <a:p>
            <a:r>
              <a:rPr lang="en-US" altLang="ko-KR" sz="2400" b="1" dirty="0"/>
              <a:t>for (let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 = 0;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 &lt; 10;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++) { </a:t>
            </a:r>
          </a:p>
          <a:p>
            <a:r>
              <a:rPr lang="en-US" altLang="ko-KR" sz="2400" b="1" dirty="0"/>
              <a:t>	if (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 === 3) { </a:t>
            </a:r>
          </a:p>
          <a:p>
            <a:r>
              <a:rPr lang="en-US" altLang="ko-KR" sz="2400" b="1" dirty="0"/>
              <a:t>	continue; </a:t>
            </a:r>
          </a:p>
          <a:p>
            <a:r>
              <a:rPr lang="en-US" altLang="ko-KR" sz="2400" b="1" dirty="0"/>
              <a:t>	} </a:t>
            </a:r>
          </a:p>
          <a:p>
            <a:r>
              <a:rPr lang="en-US" altLang="ko-KR" sz="2400" b="1" dirty="0"/>
              <a:t>	text = text +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; } </a:t>
            </a:r>
          </a:p>
          <a:p>
            <a:r>
              <a:rPr lang="en-US" altLang="ko-KR" sz="2400" b="1" dirty="0"/>
              <a:t>	console.log(text); </a:t>
            </a:r>
          </a:p>
          <a:p>
            <a:r>
              <a:rPr lang="en-US" altLang="ko-KR" sz="2400" b="1" dirty="0"/>
              <a:t>// "012456789"</a:t>
            </a:r>
          </a:p>
        </p:txBody>
      </p:sp>
    </p:spTree>
    <p:extLst>
      <p:ext uri="{BB962C8B-B14F-4D97-AF65-F5344CB8AC3E}">
        <p14:creationId xmlns:p14="http://schemas.microsoft.com/office/powerpoint/2010/main" val="20179511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171477" y="1571627"/>
            <a:ext cx="5234821" cy="479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400" b="1" dirty="0"/>
              <a:t>//let text = ''; </a:t>
            </a:r>
            <a:r>
              <a:rPr lang="ko-KR" altLang="en-US" sz="2400" b="1" dirty="0" err="1"/>
              <a:t>빈문자열</a:t>
            </a:r>
            <a:r>
              <a:rPr lang="ko-KR" altLang="en-US" sz="2400" b="1" dirty="0"/>
              <a:t> 선언</a:t>
            </a:r>
          </a:p>
          <a:p>
            <a:r>
              <a:rPr lang="en-US" altLang="ko-KR" sz="2400" b="1" dirty="0"/>
              <a:t>console.log(1+2);</a:t>
            </a:r>
          </a:p>
          <a:p>
            <a:r>
              <a:rPr lang="en-US" altLang="ko-KR" sz="2400" b="1" dirty="0"/>
              <a:t>console.log('</a:t>
            </a:r>
            <a:r>
              <a:rPr lang="en-US" altLang="ko-KR" sz="2400" b="1" dirty="0" err="1"/>
              <a:t>javascript</a:t>
            </a:r>
            <a:r>
              <a:rPr lang="en-US" altLang="ko-KR" sz="2400" b="1" dirty="0"/>
              <a:t>' + 'hello');</a:t>
            </a:r>
          </a:p>
          <a:p>
            <a:r>
              <a:rPr lang="en-US" altLang="ko-KR" sz="2400" b="1" dirty="0"/>
              <a:t>console.log('</a:t>
            </a:r>
            <a:r>
              <a:rPr lang="en-US" altLang="ko-KR" sz="2400" b="1" dirty="0" err="1"/>
              <a:t>javascript</a:t>
            </a:r>
            <a:r>
              <a:rPr lang="en-US" altLang="ko-KR" sz="2400" b="1" dirty="0"/>
              <a:t>' + 2);</a:t>
            </a:r>
          </a:p>
          <a:p>
            <a:r>
              <a:rPr lang="en-US" altLang="ko-KR" sz="2400" b="1" dirty="0"/>
              <a:t>//0-9</a:t>
            </a:r>
            <a:r>
              <a:rPr lang="ko-KR" altLang="en-US" sz="2400" b="1" dirty="0"/>
              <a:t>까지 더하기</a:t>
            </a:r>
          </a:p>
          <a:p>
            <a:r>
              <a:rPr lang="en-US" altLang="ko-KR" sz="2400" b="1" dirty="0"/>
              <a:t>let text = '';</a:t>
            </a:r>
          </a:p>
          <a:p>
            <a:r>
              <a:rPr lang="en-US" altLang="ko-KR" sz="2400" b="1" dirty="0"/>
              <a:t>for(let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=0;i&lt;10;i++){</a:t>
            </a:r>
          </a:p>
          <a:p>
            <a:r>
              <a:rPr lang="en-US" altLang="ko-KR" sz="2400" b="1" dirty="0"/>
              <a:t>    text = text +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; // </a:t>
            </a:r>
            <a:r>
              <a:rPr lang="ko-KR" altLang="en-US" sz="2400" b="1" dirty="0"/>
              <a:t>문자로 변환</a:t>
            </a:r>
          </a:p>
          <a:p>
            <a:r>
              <a:rPr lang="ko-KR" altLang="en-US" sz="2400" b="1" dirty="0"/>
              <a:t>    </a:t>
            </a:r>
            <a:r>
              <a:rPr lang="en-US" altLang="ko-KR" sz="2400" b="1" dirty="0"/>
              <a:t>console.log(`text[${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}]:`,text); </a:t>
            </a:r>
          </a:p>
          <a:p>
            <a:r>
              <a:rPr lang="en-US" altLang="ko-KR" sz="2400" b="1" dirty="0"/>
              <a:t>}</a:t>
            </a:r>
          </a:p>
          <a:p>
            <a:endParaRPr lang="en-US" altLang="ko-KR" sz="2400" b="1" dirty="0"/>
          </a:p>
          <a:p>
            <a:r>
              <a:rPr lang="en-US" altLang="ko-KR" sz="2400" b="1" dirty="0"/>
              <a:t>console.log(text);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6893964" y="1571627"/>
            <a:ext cx="3360378" cy="4364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  <a:p>
            <a:r>
              <a:rPr lang="en-US" altLang="ko-K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javascripthello</a:t>
            </a:r>
            <a:endParaRPr lang="en-US" altLang="ko-KR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javascript2</a:t>
            </a:r>
          </a:p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text[0]: 0</a:t>
            </a:r>
          </a:p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text[1]: 01</a:t>
            </a:r>
          </a:p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text[2]: 012</a:t>
            </a:r>
          </a:p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text[3]: 0123</a:t>
            </a:r>
          </a:p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text[4]: 01234</a:t>
            </a:r>
          </a:p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text[5]: 012345</a:t>
            </a:r>
          </a:p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text[6]: 0123456</a:t>
            </a:r>
          </a:p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text[7]: 01234567</a:t>
            </a:r>
          </a:p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text[8]: 012345678</a:t>
            </a:r>
          </a:p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text[9]: 0123456789</a:t>
            </a:r>
          </a:p>
        </p:txBody>
      </p:sp>
    </p:spTree>
    <p:extLst>
      <p:ext uri="{BB962C8B-B14F-4D97-AF65-F5344CB8AC3E}">
        <p14:creationId xmlns:p14="http://schemas.microsoft.com/office/powerpoint/2010/main" val="12605836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193286" y="1571627"/>
            <a:ext cx="5234821" cy="479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400" b="1" dirty="0"/>
              <a:t>// expected output: 01245678</a:t>
            </a:r>
          </a:p>
          <a:p>
            <a:r>
              <a:rPr lang="en-US" altLang="ko-KR" sz="2400" b="1" dirty="0"/>
              <a:t>//3</a:t>
            </a:r>
            <a:r>
              <a:rPr lang="ko-KR" altLang="en-US" sz="2400" b="1" dirty="0"/>
              <a:t>을 제외 하고 싶은 경우</a:t>
            </a:r>
          </a:p>
          <a:p>
            <a:endParaRPr lang="en-US" altLang="ko-KR" sz="2400" b="1" dirty="0"/>
          </a:p>
          <a:p>
            <a:r>
              <a:rPr lang="en-US" altLang="ko-KR" sz="2400" b="1" dirty="0"/>
              <a:t>let text = '';</a:t>
            </a:r>
          </a:p>
          <a:p>
            <a:r>
              <a:rPr lang="en-US" altLang="ko-KR" sz="2400" b="1" dirty="0"/>
              <a:t/>
            </a:r>
            <a:br>
              <a:rPr lang="en-US" altLang="ko-KR" sz="2400" b="1" dirty="0"/>
            </a:br>
            <a:r>
              <a:rPr lang="en-US" altLang="ko-KR" sz="2400" b="1" dirty="0"/>
              <a:t>for (let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 = 0;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 &lt; 10;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++) {</a:t>
            </a:r>
          </a:p>
          <a:p>
            <a:r>
              <a:rPr lang="en-US" altLang="ko-KR" sz="2400" b="1" dirty="0"/>
              <a:t>  if (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 === 3) {</a:t>
            </a:r>
          </a:p>
          <a:p>
            <a:r>
              <a:rPr lang="en-US" altLang="ko-KR" sz="2400" b="1" dirty="0"/>
              <a:t>    continue;</a:t>
            </a:r>
          </a:p>
          <a:p>
            <a:r>
              <a:rPr lang="en-US" altLang="ko-KR" sz="2400" b="1" dirty="0"/>
              <a:t>  }</a:t>
            </a:r>
          </a:p>
          <a:p>
            <a:r>
              <a:rPr lang="en-US" altLang="ko-KR" sz="2400" b="1" dirty="0"/>
              <a:t>  text = text +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;</a:t>
            </a:r>
          </a:p>
          <a:p>
            <a:r>
              <a:rPr lang="en-US" altLang="ko-KR" sz="2400" b="1" dirty="0"/>
              <a:t>}</a:t>
            </a:r>
          </a:p>
          <a:p>
            <a:r>
              <a:rPr lang="en-US" altLang="ko-KR" sz="2400" b="1" dirty="0"/>
              <a:t>console.log(text);</a:t>
            </a:r>
          </a:p>
        </p:txBody>
      </p:sp>
    </p:spTree>
    <p:extLst>
      <p:ext uri="{BB962C8B-B14F-4D97-AF65-F5344CB8AC3E}">
        <p14:creationId xmlns:p14="http://schemas.microsoft.com/office/powerpoint/2010/main" val="16130364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03483-BC59-4D45-8137-1007D4E73B9E}"/>
              </a:ext>
            </a:extLst>
          </p:cNvPr>
          <p:cNvSpPr txBox="1"/>
          <p:nvPr/>
        </p:nvSpPr>
        <p:spPr>
          <a:xfrm>
            <a:off x="1090649" y="415823"/>
            <a:ext cx="15511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4000" b="1"/>
            </a:lvl1pPr>
          </a:lstStyle>
          <a:p>
            <a:r>
              <a:rPr lang="en-US" altLang="ko-KR" dirty="0"/>
              <a:t>break</a:t>
            </a:r>
            <a:endParaRPr lang="ko-KR" altLang="en-US" dirty="0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954690" y="1456874"/>
            <a:ext cx="6991743" cy="479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400" b="1" dirty="0"/>
              <a:t>break</a:t>
            </a:r>
            <a:r>
              <a:rPr lang="ko-KR" altLang="en-US" sz="2400" b="1" dirty="0"/>
              <a:t>는 현재 진행하고 있는 </a:t>
            </a:r>
            <a:endParaRPr lang="en-US" altLang="ko-KR" sz="2400" b="1" dirty="0"/>
          </a:p>
          <a:p>
            <a:r>
              <a:rPr lang="ko-KR" altLang="en-US" sz="2400" b="1" dirty="0" err="1"/>
              <a:t>제어문</a:t>
            </a:r>
            <a:r>
              <a:rPr lang="en-US" altLang="ko-KR" sz="2400" b="1" dirty="0"/>
              <a:t>(for, while, switch)</a:t>
            </a:r>
            <a:r>
              <a:rPr lang="ko-KR" altLang="en-US" sz="2400" b="1" dirty="0"/>
              <a:t>의 흐름을 종료</a:t>
            </a:r>
            <a:r>
              <a:rPr lang="en-US" altLang="ko-KR" sz="2400" b="1" dirty="0"/>
              <a:t>.</a:t>
            </a:r>
          </a:p>
          <a:p>
            <a:endParaRPr lang="en-US" altLang="ko-KR" sz="2400" b="1" dirty="0"/>
          </a:p>
          <a:p>
            <a:r>
              <a:rPr lang="en-US" altLang="ko-KR" sz="2400" b="1" dirty="0"/>
              <a:t>let text = ''; </a:t>
            </a:r>
          </a:p>
          <a:p>
            <a:r>
              <a:rPr lang="en-US" altLang="ko-KR" sz="2400" b="1" dirty="0"/>
              <a:t>for (let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 = 0;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 &lt; 10;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++) { </a:t>
            </a:r>
          </a:p>
          <a:p>
            <a:r>
              <a:rPr lang="en-US" altLang="ko-KR" sz="2400" b="1" dirty="0"/>
              <a:t>	if (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 === 3) { </a:t>
            </a:r>
          </a:p>
          <a:p>
            <a:r>
              <a:rPr lang="en-US" altLang="ko-KR" sz="2400" b="1" dirty="0"/>
              <a:t>	break; </a:t>
            </a:r>
          </a:p>
          <a:p>
            <a:r>
              <a:rPr lang="en-US" altLang="ko-KR" sz="2400" b="1" dirty="0"/>
              <a:t>	} </a:t>
            </a:r>
          </a:p>
          <a:p>
            <a:r>
              <a:rPr lang="en-US" altLang="ko-KR" sz="2400" b="1" dirty="0"/>
              <a:t>	text = text +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; </a:t>
            </a:r>
          </a:p>
          <a:p>
            <a:r>
              <a:rPr lang="en-US" altLang="ko-KR" sz="2400" b="1" dirty="0"/>
              <a:t>	} </a:t>
            </a:r>
          </a:p>
          <a:p>
            <a:r>
              <a:rPr lang="en-US" altLang="ko-KR" sz="2400" b="1" dirty="0"/>
              <a:t>	console.log(text); </a:t>
            </a:r>
          </a:p>
          <a:p>
            <a:r>
              <a:rPr lang="en-US" altLang="ko-KR" sz="2400" b="1" dirty="0"/>
              <a:t>// "012"</a:t>
            </a:r>
          </a:p>
        </p:txBody>
      </p:sp>
    </p:spTree>
    <p:extLst>
      <p:ext uri="{BB962C8B-B14F-4D97-AF65-F5344CB8AC3E}">
        <p14:creationId xmlns:p14="http://schemas.microsoft.com/office/powerpoint/2010/main" val="31697354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4DC1C2-8945-DC4C-BE26-721A6DAA75B3}"/>
              </a:ext>
            </a:extLst>
          </p:cNvPr>
          <p:cNvSpPr/>
          <p:nvPr/>
        </p:nvSpPr>
        <p:spPr>
          <a:xfrm>
            <a:off x="1016005" y="-21015"/>
            <a:ext cx="11196538" cy="180245"/>
          </a:xfrm>
          <a:prstGeom prst="rect">
            <a:avLst/>
          </a:prstGeom>
          <a:solidFill>
            <a:srgbClr val="332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24">
            <a:extLst>
              <a:ext uri="{FF2B5EF4-FFF2-40B4-BE49-F238E27FC236}">
                <a16:creationId xmlns:a16="http://schemas.microsoft.com/office/drawing/2014/main" id="{D4C78BBB-8A44-C14D-9F64-4899A5F27385}"/>
              </a:ext>
            </a:extLst>
          </p:cNvPr>
          <p:cNvCxnSpPr>
            <a:cxnSpLocks/>
          </p:cNvCxnSpPr>
          <p:nvPr/>
        </p:nvCxnSpPr>
        <p:spPr>
          <a:xfrm>
            <a:off x="995462" y="1168400"/>
            <a:ext cx="11196538" cy="0"/>
          </a:xfrm>
          <a:prstGeom prst="line">
            <a:avLst/>
          </a:prstGeom>
          <a:ln w="38100">
            <a:solidFill>
              <a:srgbClr val="3326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FAE101-95FF-E449-889D-27E2F36F7426}"/>
              </a:ext>
            </a:extLst>
          </p:cNvPr>
          <p:cNvSpPr txBox="1"/>
          <p:nvPr/>
        </p:nvSpPr>
        <p:spPr>
          <a:xfrm>
            <a:off x="15841362" y="3669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187924" y="1518429"/>
            <a:ext cx="6047269" cy="4672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rtlCol="0">
            <a:spAutoFit/>
          </a:bodyPr>
          <a:lstStyle/>
          <a:p>
            <a:r>
              <a:rPr lang="en-US" altLang="ko-KR" sz="2800" b="1" dirty="0"/>
              <a:t>let text = ''; </a:t>
            </a:r>
          </a:p>
          <a:p>
            <a:endParaRPr lang="en-US" altLang="ko-KR" sz="2800" b="1" dirty="0"/>
          </a:p>
          <a:p>
            <a:r>
              <a:rPr lang="en-US" altLang="ko-KR" sz="2800" b="1" dirty="0"/>
              <a:t>for (let </a:t>
            </a:r>
            <a:r>
              <a:rPr lang="en-US" altLang="ko-KR" sz="2800" b="1" dirty="0" err="1"/>
              <a:t>i</a:t>
            </a:r>
            <a:r>
              <a:rPr lang="en-US" altLang="ko-KR" sz="2800" b="1" dirty="0"/>
              <a:t> = 0; </a:t>
            </a:r>
            <a:r>
              <a:rPr lang="en-US" altLang="ko-KR" sz="2800" b="1" dirty="0" err="1"/>
              <a:t>i</a:t>
            </a:r>
            <a:r>
              <a:rPr lang="en-US" altLang="ko-KR" sz="2800" b="1" dirty="0"/>
              <a:t> &lt; 10; </a:t>
            </a:r>
            <a:r>
              <a:rPr lang="en-US" altLang="ko-KR" sz="2800" b="1" dirty="0" err="1"/>
              <a:t>i</a:t>
            </a:r>
            <a:r>
              <a:rPr lang="en-US" altLang="ko-KR" sz="2800" b="1" dirty="0"/>
              <a:t>++) {</a:t>
            </a:r>
          </a:p>
          <a:p>
            <a:r>
              <a:rPr lang="en-US" altLang="ko-KR" sz="2800" b="1" dirty="0"/>
              <a:t>  if (</a:t>
            </a:r>
            <a:r>
              <a:rPr lang="en-US" altLang="ko-KR" sz="2800" b="1" dirty="0" err="1"/>
              <a:t>i</a:t>
            </a:r>
            <a:r>
              <a:rPr lang="en-US" altLang="ko-KR" sz="2800" b="1" dirty="0"/>
              <a:t> === 3) {</a:t>
            </a:r>
          </a:p>
          <a:p>
            <a:r>
              <a:rPr lang="en-US" altLang="ko-KR" sz="2800" b="1" dirty="0"/>
              <a:t>    break;</a:t>
            </a:r>
          </a:p>
          <a:p>
            <a:r>
              <a:rPr lang="en-US" altLang="ko-KR" sz="2800" b="1" dirty="0"/>
              <a:t>  }</a:t>
            </a:r>
          </a:p>
          <a:p>
            <a:r>
              <a:rPr lang="en-US" altLang="ko-KR" sz="2800" b="1" dirty="0"/>
              <a:t>  text = text + </a:t>
            </a:r>
            <a:r>
              <a:rPr lang="en-US" altLang="ko-KR" sz="2800" b="1" dirty="0" err="1"/>
              <a:t>i</a:t>
            </a:r>
            <a:r>
              <a:rPr lang="en-US" altLang="ko-KR" sz="2800" b="1" dirty="0"/>
              <a:t>;</a:t>
            </a:r>
          </a:p>
          <a:p>
            <a:r>
              <a:rPr lang="en-US" altLang="ko-KR" sz="2800" b="1" dirty="0"/>
              <a:t>}</a:t>
            </a:r>
          </a:p>
          <a:p>
            <a:endParaRPr lang="en-US" altLang="ko-KR" sz="2800" b="1" dirty="0"/>
          </a:p>
          <a:p>
            <a:r>
              <a:rPr lang="en-US" altLang="ko-KR" sz="2800" b="1" dirty="0"/>
              <a:t>console.log(text);</a:t>
            </a:r>
          </a:p>
        </p:txBody>
      </p:sp>
    </p:spTree>
    <p:extLst>
      <p:ext uri="{BB962C8B-B14F-4D97-AF65-F5344CB8AC3E}">
        <p14:creationId xmlns:p14="http://schemas.microsoft.com/office/powerpoint/2010/main" val="3654748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1449</TotalTime>
  <Words>2814</Words>
  <Application>Microsoft Office PowerPoint</Application>
  <PresentationFormat>와이드스크린</PresentationFormat>
  <Paragraphs>543</Paragraphs>
  <Slides>58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0</vt:i4>
      </vt:variant>
      <vt:variant>
        <vt:lpstr>슬라이드 제목</vt:lpstr>
      </vt:variant>
      <vt:variant>
        <vt:i4>58</vt:i4>
      </vt:variant>
    </vt:vector>
  </HeadingPairs>
  <TitlesOfParts>
    <vt:vector size="64" baseType="lpstr">
      <vt:lpstr>D2Coding</vt:lpstr>
      <vt:lpstr>SFMono-Regular</vt:lpstr>
      <vt:lpstr>맑은 고딕</vt:lpstr>
      <vt:lpstr>Arial</vt:lpstr>
      <vt:lpstr>Wingdings</vt:lpstr>
      <vt:lpstr>Office 테마</vt:lpstr>
      <vt:lpstr>5주차_6주차</vt:lpstr>
      <vt:lpstr>연산자</vt:lpstr>
      <vt:lpstr>PowerPoint 프레젠테이션</vt:lpstr>
      <vt:lpstr>할당 연산자</vt:lpstr>
      <vt:lpstr>연결 연산자</vt:lpstr>
      <vt:lpstr>비교 연산자</vt:lpstr>
      <vt:lpstr>PowerPoint 프레젠테이션</vt:lpstr>
      <vt:lpstr>논리 연산자</vt:lpstr>
      <vt:lpstr>연산자 우선 순위</vt:lpstr>
      <vt:lpstr>자바스크립트의 형 변환</vt:lpstr>
      <vt:lpstr>자동 형 변환</vt:lpstr>
      <vt:lpstr>숫자형으로 변환하기 – Number()</vt:lpstr>
      <vt:lpstr>숫자형으로 변환하기 – parseInt(), parseFloat()</vt:lpstr>
      <vt:lpstr>문자열로 변환하기 – toString() 함수</vt:lpstr>
      <vt:lpstr>문자열로 변환하기 – String() 함수</vt:lpstr>
      <vt:lpstr>toString() 함수와 String() 함수의 차이</vt:lpstr>
      <vt:lpstr>논리형으로 변환하기 – Boolean() 함수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제어문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안녕? 자바스크립트</dc:title>
  <dc:creator>KoKyunghee</dc:creator>
  <cp:lastModifiedBy>PC</cp:lastModifiedBy>
  <cp:revision>127</cp:revision>
  <dcterms:created xsi:type="dcterms:W3CDTF">2021-10-20T15:26:11Z</dcterms:created>
  <dcterms:modified xsi:type="dcterms:W3CDTF">2026-10-01T13:19:49Z</dcterms:modified>
</cp:coreProperties>
</file>